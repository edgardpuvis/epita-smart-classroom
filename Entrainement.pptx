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63" r:id="rId2"/>
    <p:sldId id="290" r:id="rId3"/>
    <p:sldId id="315" r:id="rId4"/>
    <p:sldId id="316" r:id="rId5"/>
    <p:sldId id="317" r:id="rId6"/>
    <p:sldId id="318" r:id="rId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EA098B-47CD-4AAC-B90E-E798EC11FDB1}" v="18" dt="2026-06-04T13:27:37.46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Style à thème 1 - Accentuation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FD4443E-F989-4FC4-A0C8-D5A2AF1F390B}" styleName="Style foncé 1 - Accentuation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269D01E-BC32-4049-B463-5C60D7B0CCD2}" styleName="Style à thème 2 - Accentuation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111" d="100"/>
          <a:sy n="111" d="100"/>
        </p:scale>
        <p:origin x="5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3A6FCE-B2C3-42FF-8DAE-8894F377301F}" type="datetimeFigureOut">
              <a:rPr lang="fr-FR" smtClean="0"/>
              <a:t>16/10/2026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563BAD-3805-4B53-8F3B-5AFB5556793B}" type="slidenum">
              <a:rPr lang="fr-FR" smtClean="0"/>
              <a:t>‹N°›</a:t>
            </a:fld>
            <a:endParaRPr lang="fr-FR"/>
          </a:p>
        </p:txBody>
      </p:sp>
    </p:spTree>
    <p:extLst>
      <p:ext uri="{BB962C8B-B14F-4D97-AF65-F5344CB8AC3E}">
        <p14:creationId xmlns:p14="http://schemas.microsoft.com/office/powerpoint/2010/main" val="2382894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7563BAD-3805-4B53-8F3B-5AFB5556793B}" type="slidenum">
              <a:rPr lang="fr-FR" smtClean="0"/>
              <a:t>1</a:t>
            </a:fld>
            <a:endParaRPr lang="fr-FR"/>
          </a:p>
        </p:txBody>
      </p:sp>
    </p:spTree>
    <p:extLst>
      <p:ext uri="{BB962C8B-B14F-4D97-AF65-F5344CB8AC3E}">
        <p14:creationId xmlns:p14="http://schemas.microsoft.com/office/powerpoint/2010/main" val="1486699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C3F2C-130F-B6CE-95F3-E122F5D3F87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B3FF3DC-A828-347D-AA2A-1B39DEF334D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04EE985-88D5-11F8-FCD9-39D52EA7D82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AF8561C-5905-A2C1-38A1-433F334D0B32}"/>
              </a:ext>
            </a:extLst>
          </p:cNvPr>
          <p:cNvSpPr>
            <a:spLocks noGrp="1"/>
          </p:cNvSpPr>
          <p:nvPr>
            <p:ph type="sldNum" sz="quarter" idx="5"/>
          </p:nvPr>
        </p:nvSpPr>
        <p:spPr/>
        <p:txBody>
          <a:bodyPr/>
          <a:lstStyle/>
          <a:p>
            <a:fld id="{A7563BAD-3805-4B53-8F3B-5AFB5556793B}" type="slidenum">
              <a:rPr lang="fr-FR" smtClean="0"/>
              <a:t>2</a:t>
            </a:fld>
            <a:endParaRPr lang="fr-FR"/>
          </a:p>
        </p:txBody>
      </p:sp>
    </p:spTree>
    <p:extLst>
      <p:ext uri="{BB962C8B-B14F-4D97-AF65-F5344CB8AC3E}">
        <p14:creationId xmlns:p14="http://schemas.microsoft.com/office/powerpoint/2010/main" val="1023549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663CA-AC91-EAD8-F2FA-C810587FA8F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4533C19-A817-42C4-7DB9-172D1F048D5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BA901B8-A352-6FFA-0ACA-5AED89A5CF8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F12708F-B2F5-421C-2F7F-532E2D293A56}"/>
              </a:ext>
            </a:extLst>
          </p:cNvPr>
          <p:cNvSpPr>
            <a:spLocks noGrp="1"/>
          </p:cNvSpPr>
          <p:nvPr>
            <p:ph type="sldNum" sz="quarter" idx="5"/>
          </p:nvPr>
        </p:nvSpPr>
        <p:spPr/>
        <p:txBody>
          <a:bodyPr/>
          <a:lstStyle/>
          <a:p>
            <a:fld id="{A7563BAD-3805-4B53-8F3B-5AFB5556793B}" type="slidenum">
              <a:rPr lang="fr-FR" smtClean="0"/>
              <a:t>3</a:t>
            </a:fld>
            <a:endParaRPr lang="fr-FR"/>
          </a:p>
        </p:txBody>
      </p:sp>
    </p:spTree>
    <p:extLst>
      <p:ext uri="{BB962C8B-B14F-4D97-AF65-F5344CB8AC3E}">
        <p14:creationId xmlns:p14="http://schemas.microsoft.com/office/powerpoint/2010/main" val="3179679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19B12-CA27-CFD0-6011-DCB4156896B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6DC611F-D2BE-14DF-9C24-87AF7574489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CBA234F-E6E7-AF17-8AFD-48D714F9781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95DB4BD-9FD5-4BB1-973B-06AD0F61609C}"/>
              </a:ext>
            </a:extLst>
          </p:cNvPr>
          <p:cNvSpPr>
            <a:spLocks noGrp="1"/>
          </p:cNvSpPr>
          <p:nvPr>
            <p:ph type="sldNum" sz="quarter" idx="5"/>
          </p:nvPr>
        </p:nvSpPr>
        <p:spPr/>
        <p:txBody>
          <a:bodyPr/>
          <a:lstStyle/>
          <a:p>
            <a:fld id="{A7563BAD-3805-4B53-8F3B-5AFB5556793B}" type="slidenum">
              <a:rPr lang="fr-FR" smtClean="0"/>
              <a:t>4</a:t>
            </a:fld>
            <a:endParaRPr lang="fr-FR"/>
          </a:p>
        </p:txBody>
      </p:sp>
    </p:spTree>
    <p:extLst>
      <p:ext uri="{BB962C8B-B14F-4D97-AF65-F5344CB8AC3E}">
        <p14:creationId xmlns:p14="http://schemas.microsoft.com/office/powerpoint/2010/main" val="592131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19B12-CA27-CFD0-6011-DCB4156896B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6DC611F-D2BE-14DF-9C24-87AF7574489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CBA234F-E6E7-AF17-8AFD-48D714F9781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95DB4BD-9FD5-4BB1-973B-06AD0F61609C}"/>
              </a:ext>
            </a:extLst>
          </p:cNvPr>
          <p:cNvSpPr>
            <a:spLocks noGrp="1"/>
          </p:cNvSpPr>
          <p:nvPr>
            <p:ph type="sldNum" sz="quarter" idx="5"/>
          </p:nvPr>
        </p:nvSpPr>
        <p:spPr/>
        <p:txBody>
          <a:bodyPr/>
          <a:lstStyle/>
          <a:p>
            <a:fld id="{A7563BAD-3805-4B53-8F3B-5AFB5556793B}" type="slidenum">
              <a:rPr lang="fr-FR" smtClean="0"/>
              <a:t>5</a:t>
            </a:fld>
            <a:endParaRPr lang="fr-FR"/>
          </a:p>
        </p:txBody>
      </p:sp>
    </p:spTree>
    <p:extLst>
      <p:ext uri="{BB962C8B-B14F-4D97-AF65-F5344CB8AC3E}">
        <p14:creationId xmlns:p14="http://schemas.microsoft.com/office/powerpoint/2010/main" val="2634731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19B12-CA27-CFD0-6011-DCB4156896B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6DC611F-D2BE-14DF-9C24-87AF7574489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CBA234F-E6E7-AF17-8AFD-48D714F9781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95DB4BD-9FD5-4BB1-973B-06AD0F61609C}"/>
              </a:ext>
            </a:extLst>
          </p:cNvPr>
          <p:cNvSpPr>
            <a:spLocks noGrp="1"/>
          </p:cNvSpPr>
          <p:nvPr>
            <p:ph type="sldNum" sz="quarter" idx="5"/>
          </p:nvPr>
        </p:nvSpPr>
        <p:spPr/>
        <p:txBody>
          <a:bodyPr/>
          <a:lstStyle/>
          <a:p>
            <a:fld id="{A7563BAD-3805-4B53-8F3B-5AFB5556793B}" type="slidenum">
              <a:rPr lang="fr-FR" smtClean="0"/>
              <a:t>6</a:t>
            </a:fld>
            <a:endParaRPr lang="fr-FR"/>
          </a:p>
        </p:txBody>
      </p:sp>
    </p:spTree>
    <p:extLst>
      <p:ext uri="{BB962C8B-B14F-4D97-AF65-F5344CB8AC3E}">
        <p14:creationId xmlns:p14="http://schemas.microsoft.com/office/powerpoint/2010/main" val="1204171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FF6604-04F2-DA4D-9C77-6997402480D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A005609-4B90-F53A-9716-B4B181125B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56014F00-0939-FD1E-EAE4-F921C7EC81F9}"/>
              </a:ext>
            </a:extLst>
          </p:cNvPr>
          <p:cNvSpPr>
            <a:spLocks noGrp="1"/>
          </p:cNvSpPr>
          <p:nvPr>
            <p:ph type="dt" sz="half" idx="10"/>
          </p:nvPr>
        </p:nvSpPr>
        <p:spPr/>
        <p:txBody>
          <a:bodyPr/>
          <a:lstStyle/>
          <a:p>
            <a:fld id="{D86F7D36-4C96-4C61-8D7E-42196948DD22}" type="datetimeFigureOut">
              <a:rPr lang="fr-FR" smtClean="0"/>
              <a:t>16/10/2026</a:t>
            </a:fld>
            <a:endParaRPr lang="fr-FR"/>
          </a:p>
        </p:txBody>
      </p:sp>
      <p:sp>
        <p:nvSpPr>
          <p:cNvPr id="5" name="Espace réservé du pied de page 4">
            <a:extLst>
              <a:ext uri="{FF2B5EF4-FFF2-40B4-BE49-F238E27FC236}">
                <a16:creationId xmlns:a16="http://schemas.microsoft.com/office/drawing/2014/main" id="{D629F044-3921-CD57-7190-B36B08CF5F6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FDD80AD-F4B5-BC60-CF53-7DE503C0AD83}"/>
              </a:ext>
            </a:extLst>
          </p:cNvPr>
          <p:cNvSpPr>
            <a:spLocks noGrp="1"/>
          </p:cNvSpPr>
          <p:nvPr>
            <p:ph type="sldNum" sz="quarter" idx="12"/>
          </p:nvPr>
        </p:nvSpPr>
        <p:spPr/>
        <p:txBody>
          <a:bodyPr/>
          <a:lstStyle/>
          <a:p>
            <a:fld id="{5A59D3AF-C160-4ADD-BB60-E089558B7851}" type="slidenum">
              <a:rPr lang="fr-FR" smtClean="0"/>
              <a:t>‹N°›</a:t>
            </a:fld>
            <a:endParaRPr lang="fr-FR"/>
          </a:p>
        </p:txBody>
      </p:sp>
    </p:spTree>
    <p:extLst>
      <p:ext uri="{BB962C8B-B14F-4D97-AF65-F5344CB8AC3E}">
        <p14:creationId xmlns:p14="http://schemas.microsoft.com/office/powerpoint/2010/main" val="3246615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07741E-549F-21B0-A8F1-0D75F6AC3D9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6531BFC-096D-222F-16D8-CAD74BE09AE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554D4F-9539-5ACF-70B8-483908795844}"/>
              </a:ext>
            </a:extLst>
          </p:cNvPr>
          <p:cNvSpPr>
            <a:spLocks noGrp="1"/>
          </p:cNvSpPr>
          <p:nvPr>
            <p:ph type="dt" sz="half" idx="10"/>
          </p:nvPr>
        </p:nvSpPr>
        <p:spPr/>
        <p:txBody>
          <a:bodyPr/>
          <a:lstStyle/>
          <a:p>
            <a:fld id="{D86F7D36-4C96-4C61-8D7E-42196948DD22}" type="datetimeFigureOut">
              <a:rPr lang="fr-FR" smtClean="0"/>
              <a:t>16/10/2026</a:t>
            </a:fld>
            <a:endParaRPr lang="fr-FR"/>
          </a:p>
        </p:txBody>
      </p:sp>
      <p:sp>
        <p:nvSpPr>
          <p:cNvPr id="5" name="Espace réservé du pied de page 4">
            <a:extLst>
              <a:ext uri="{FF2B5EF4-FFF2-40B4-BE49-F238E27FC236}">
                <a16:creationId xmlns:a16="http://schemas.microsoft.com/office/drawing/2014/main" id="{326FE174-FC74-51BB-088C-76EFD4856B8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B1CF15B-FCFF-3B5D-28E5-6985000A0A69}"/>
              </a:ext>
            </a:extLst>
          </p:cNvPr>
          <p:cNvSpPr>
            <a:spLocks noGrp="1"/>
          </p:cNvSpPr>
          <p:nvPr>
            <p:ph type="sldNum" sz="quarter" idx="12"/>
          </p:nvPr>
        </p:nvSpPr>
        <p:spPr/>
        <p:txBody>
          <a:bodyPr/>
          <a:lstStyle/>
          <a:p>
            <a:fld id="{5A59D3AF-C160-4ADD-BB60-E089558B7851}" type="slidenum">
              <a:rPr lang="fr-FR" smtClean="0"/>
              <a:t>‹N°›</a:t>
            </a:fld>
            <a:endParaRPr lang="fr-FR"/>
          </a:p>
        </p:txBody>
      </p:sp>
    </p:spTree>
    <p:extLst>
      <p:ext uri="{BB962C8B-B14F-4D97-AF65-F5344CB8AC3E}">
        <p14:creationId xmlns:p14="http://schemas.microsoft.com/office/powerpoint/2010/main" val="3335693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E24119-97AC-F591-F4A1-A42884DA463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6AE7AF4C-6C7D-6F33-F246-7E5D00DDB7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71E8DA6-316E-1EB8-4CC0-F976CA7401FC}"/>
              </a:ext>
            </a:extLst>
          </p:cNvPr>
          <p:cNvSpPr>
            <a:spLocks noGrp="1"/>
          </p:cNvSpPr>
          <p:nvPr>
            <p:ph type="dt" sz="half" idx="10"/>
          </p:nvPr>
        </p:nvSpPr>
        <p:spPr/>
        <p:txBody>
          <a:bodyPr/>
          <a:lstStyle/>
          <a:p>
            <a:fld id="{D86F7D36-4C96-4C61-8D7E-42196948DD22}" type="datetimeFigureOut">
              <a:rPr lang="fr-FR" smtClean="0"/>
              <a:t>16/10/2026</a:t>
            </a:fld>
            <a:endParaRPr lang="fr-FR"/>
          </a:p>
        </p:txBody>
      </p:sp>
      <p:sp>
        <p:nvSpPr>
          <p:cNvPr id="5" name="Espace réservé du pied de page 4">
            <a:extLst>
              <a:ext uri="{FF2B5EF4-FFF2-40B4-BE49-F238E27FC236}">
                <a16:creationId xmlns:a16="http://schemas.microsoft.com/office/drawing/2014/main" id="{373BE720-E4CC-BE1F-AB7E-3B5AF12A97D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F4B53A1-7130-CE24-22EF-394C73363AB6}"/>
              </a:ext>
            </a:extLst>
          </p:cNvPr>
          <p:cNvSpPr>
            <a:spLocks noGrp="1"/>
          </p:cNvSpPr>
          <p:nvPr>
            <p:ph type="sldNum" sz="quarter" idx="12"/>
          </p:nvPr>
        </p:nvSpPr>
        <p:spPr/>
        <p:txBody>
          <a:bodyPr/>
          <a:lstStyle/>
          <a:p>
            <a:fld id="{5A59D3AF-C160-4ADD-BB60-E089558B7851}" type="slidenum">
              <a:rPr lang="fr-FR" smtClean="0"/>
              <a:t>‹N°›</a:t>
            </a:fld>
            <a:endParaRPr lang="fr-FR"/>
          </a:p>
        </p:txBody>
      </p:sp>
    </p:spTree>
    <p:extLst>
      <p:ext uri="{BB962C8B-B14F-4D97-AF65-F5344CB8AC3E}">
        <p14:creationId xmlns:p14="http://schemas.microsoft.com/office/powerpoint/2010/main" val="1684981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A4F4A1-29A7-90D5-F8CA-6C2EDDB7C9F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8F615D1-7221-3D1A-44A4-6C56F124BAF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F3A053-2DE4-4508-90B1-B1A6CEA59E4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638C3D89-EE84-F910-2F81-A4A77C6E931F}"/>
              </a:ext>
            </a:extLst>
          </p:cNvPr>
          <p:cNvSpPr>
            <a:spLocks noGrp="1"/>
          </p:cNvSpPr>
          <p:nvPr>
            <p:ph type="dt" sz="half" idx="10"/>
          </p:nvPr>
        </p:nvSpPr>
        <p:spPr/>
        <p:txBody>
          <a:bodyPr/>
          <a:lstStyle/>
          <a:p>
            <a:fld id="{D86F7D36-4C96-4C61-8D7E-42196948DD22}" type="datetimeFigureOut">
              <a:rPr lang="fr-FR" smtClean="0"/>
              <a:t>16/10/2026</a:t>
            </a:fld>
            <a:endParaRPr lang="fr-FR"/>
          </a:p>
        </p:txBody>
      </p:sp>
      <p:sp>
        <p:nvSpPr>
          <p:cNvPr id="6" name="Espace réservé du pied de page 5">
            <a:extLst>
              <a:ext uri="{FF2B5EF4-FFF2-40B4-BE49-F238E27FC236}">
                <a16:creationId xmlns:a16="http://schemas.microsoft.com/office/drawing/2014/main" id="{DF4D47E2-AF09-D0D6-35A7-512A0961DB5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D3B1133-052D-92BE-2F47-4BB9243F41F2}"/>
              </a:ext>
            </a:extLst>
          </p:cNvPr>
          <p:cNvSpPr>
            <a:spLocks noGrp="1"/>
          </p:cNvSpPr>
          <p:nvPr>
            <p:ph type="sldNum" sz="quarter" idx="12"/>
          </p:nvPr>
        </p:nvSpPr>
        <p:spPr/>
        <p:txBody>
          <a:bodyPr/>
          <a:lstStyle/>
          <a:p>
            <a:fld id="{5A59D3AF-C160-4ADD-BB60-E089558B7851}" type="slidenum">
              <a:rPr lang="fr-FR" smtClean="0"/>
              <a:t>‹N°›</a:t>
            </a:fld>
            <a:endParaRPr lang="fr-FR"/>
          </a:p>
        </p:txBody>
      </p:sp>
    </p:spTree>
    <p:extLst>
      <p:ext uri="{BB962C8B-B14F-4D97-AF65-F5344CB8AC3E}">
        <p14:creationId xmlns:p14="http://schemas.microsoft.com/office/powerpoint/2010/main" val="394738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CC1740-0531-8906-5B1A-00AF98601D6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8AE1771-7A0B-E891-02FA-907D55A651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1DD8F25-B568-1AA0-B5E8-AD6E7EBA093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1B233EC-77B4-933B-210A-D8E801DE55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0F4ACE1-B6E0-9464-30FF-757CFD78D1F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223090C-4DB9-44A0-2EEA-98F11044214E}"/>
              </a:ext>
            </a:extLst>
          </p:cNvPr>
          <p:cNvSpPr>
            <a:spLocks noGrp="1"/>
          </p:cNvSpPr>
          <p:nvPr>
            <p:ph type="dt" sz="half" idx="10"/>
          </p:nvPr>
        </p:nvSpPr>
        <p:spPr/>
        <p:txBody>
          <a:bodyPr/>
          <a:lstStyle/>
          <a:p>
            <a:fld id="{D86F7D36-4C96-4C61-8D7E-42196948DD22}" type="datetimeFigureOut">
              <a:rPr lang="fr-FR" smtClean="0"/>
              <a:t>16/10/2026</a:t>
            </a:fld>
            <a:endParaRPr lang="fr-FR"/>
          </a:p>
        </p:txBody>
      </p:sp>
      <p:sp>
        <p:nvSpPr>
          <p:cNvPr id="8" name="Espace réservé du pied de page 7">
            <a:extLst>
              <a:ext uri="{FF2B5EF4-FFF2-40B4-BE49-F238E27FC236}">
                <a16:creationId xmlns:a16="http://schemas.microsoft.com/office/drawing/2014/main" id="{3F18FFA5-2B97-E9FE-7055-C0DB6291BB6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AA2729CA-0802-C435-1778-E0B50E09354B}"/>
              </a:ext>
            </a:extLst>
          </p:cNvPr>
          <p:cNvSpPr>
            <a:spLocks noGrp="1"/>
          </p:cNvSpPr>
          <p:nvPr>
            <p:ph type="sldNum" sz="quarter" idx="12"/>
          </p:nvPr>
        </p:nvSpPr>
        <p:spPr/>
        <p:txBody>
          <a:bodyPr/>
          <a:lstStyle/>
          <a:p>
            <a:fld id="{5A59D3AF-C160-4ADD-BB60-E089558B7851}" type="slidenum">
              <a:rPr lang="fr-FR" smtClean="0"/>
              <a:t>‹N°›</a:t>
            </a:fld>
            <a:endParaRPr lang="fr-FR"/>
          </a:p>
        </p:txBody>
      </p:sp>
    </p:spTree>
    <p:extLst>
      <p:ext uri="{BB962C8B-B14F-4D97-AF65-F5344CB8AC3E}">
        <p14:creationId xmlns:p14="http://schemas.microsoft.com/office/powerpoint/2010/main" val="2558791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0250B7-E855-7DA9-9BCA-57BE489AAD2B}"/>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BC7A1B5-03EE-847D-6FF8-0836AC200CCC}"/>
              </a:ext>
            </a:extLst>
          </p:cNvPr>
          <p:cNvSpPr>
            <a:spLocks noGrp="1"/>
          </p:cNvSpPr>
          <p:nvPr>
            <p:ph type="dt" sz="half" idx="10"/>
          </p:nvPr>
        </p:nvSpPr>
        <p:spPr/>
        <p:txBody>
          <a:bodyPr/>
          <a:lstStyle/>
          <a:p>
            <a:fld id="{D86F7D36-4C96-4C61-8D7E-42196948DD22}" type="datetimeFigureOut">
              <a:rPr lang="fr-FR" smtClean="0"/>
              <a:t>16/10/2026</a:t>
            </a:fld>
            <a:endParaRPr lang="fr-FR"/>
          </a:p>
        </p:txBody>
      </p:sp>
      <p:sp>
        <p:nvSpPr>
          <p:cNvPr id="4" name="Espace réservé du pied de page 3">
            <a:extLst>
              <a:ext uri="{FF2B5EF4-FFF2-40B4-BE49-F238E27FC236}">
                <a16:creationId xmlns:a16="http://schemas.microsoft.com/office/drawing/2014/main" id="{77019FCB-E89C-9A4C-1D19-953E547A64D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FF827F05-FACE-034C-8D92-F62A4582E68B}"/>
              </a:ext>
            </a:extLst>
          </p:cNvPr>
          <p:cNvSpPr>
            <a:spLocks noGrp="1"/>
          </p:cNvSpPr>
          <p:nvPr>
            <p:ph type="sldNum" sz="quarter" idx="12"/>
          </p:nvPr>
        </p:nvSpPr>
        <p:spPr/>
        <p:txBody>
          <a:bodyPr/>
          <a:lstStyle/>
          <a:p>
            <a:fld id="{5A59D3AF-C160-4ADD-BB60-E089558B7851}" type="slidenum">
              <a:rPr lang="fr-FR" smtClean="0"/>
              <a:t>‹N°›</a:t>
            </a:fld>
            <a:endParaRPr lang="fr-FR"/>
          </a:p>
        </p:txBody>
      </p:sp>
    </p:spTree>
    <p:extLst>
      <p:ext uri="{BB962C8B-B14F-4D97-AF65-F5344CB8AC3E}">
        <p14:creationId xmlns:p14="http://schemas.microsoft.com/office/powerpoint/2010/main" val="3278255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76590E9-AAF0-E9F3-D702-FBD63E2589A1}"/>
              </a:ext>
            </a:extLst>
          </p:cNvPr>
          <p:cNvSpPr>
            <a:spLocks noGrp="1"/>
          </p:cNvSpPr>
          <p:nvPr>
            <p:ph type="dt" sz="half" idx="10"/>
          </p:nvPr>
        </p:nvSpPr>
        <p:spPr/>
        <p:txBody>
          <a:bodyPr/>
          <a:lstStyle/>
          <a:p>
            <a:fld id="{D86F7D36-4C96-4C61-8D7E-42196948DD22}" type="datetimeFigureOut">
              <a:rPr lang="fr-FR" smtClean="0"/>
              <a:t>16/10/2026</a:t>
            </a:fld>
            <a:endParaRPr lang="fr-FR"/>
          </a:p>
        </p:txBody>
      </p:sp>
      <p:sp>
        <p:nvSpPr>
          <p:cNvPr id="3" name="Espace réservé du pied de page 2">
            <a:extLst>
              <a:ext uri="{FF2B5EF4-FFF2-40B4-BE49-F238E27FC236}">
                <a16:creationId xmlns:a16="http://schemas.microsoft.com/office/drawing/2014/main" id="{8DEE2A04-D288-A463-DBEA-B9387F227FC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9CE8EBE-9103-8589-804D-6EB4AE09D72E}"/>
              </a:ext>
            </a:extLst>
          </p:cNvPr>
          <p:cNvSpPr>
            <a:spLocks noGrp="1"/>
          </p:cNvSpPr>
          <p:nvPr>
            <p:ph type="sldNum" sz="quarter" idx="12"/>
          </p:nvPr>
        </p:nvSpPr>
        <p:spPr/>
        <p:txBody>
          <a:bodyPr/>
          <a:lstStyle/>
          <a:p>
            <a:fld id="{5A59D3AF-C160-4ADD-BB60-E089558B7851}" type="slidenum">
              <a:rPr lang="fr-FR" smtClean="0"/>
              <a:t>‹N°›</a:t>
            </a:fld>
            <a:endParaRPr lang="fr-FR"/>
          </a:p>
        </p:txBody>
      </p:sp>
    </p:spTree>
    <p:extLst>
      <p:ext uri="{BB962C8B-B14F-4D97-AF65-F5344CB8AC3E}">
        <p14:creationId xmlns:p14="http://schemas.microsoft.com/office/powerpoint/2010/main" val="3178409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5C9746-61F1-179B-3D74-E1B33257FDE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E7EC671-96A3-78D3-4FB8-69924317A5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E308428-45A2-6A0D-5F26-A516EA18F3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5B5F96E-414E-C335-AC90-D3ED71D70CBF}"/>
              </a:ext>
            </a:extLst>
          </p:cNvPr>
          <p:cNvSpPr>
            <a:spLocks noGrp="1"/>
          </p:cNvSpPr>
          <p:nvPr>
            <p:ph type="dt" sz="half" idx="10"/>
          </p:nvPr>
        </p:nvSpPr>
        <p:spPr/>
        <p:txBody>
          <a:bodyPr/>
          <a:lstStyle/>
          <a:p>
            <a:fld id="{D86F7D36-4C96-4C61-8D7E-42196948DD22}" type="datetimeFigureOut">
              <a:rPr lang="fr-FR" smtClean="0"/>
              <a:t>16/10/2026</a:t>
            </a:fld>
            <a:endParaRPr lang="fr-FR"/>
          </a:p>
        </p:txBody>
      </p:sp>
      <p:sp>
        <p:nvSpPr>
          <p:cNvPr id="6" name="Espace réservé du pied de page 5">
            <a:extLst>
              <a:ext uri="{FF2B5EF4-FFF2-40B4-BE49-F238E27FC236}">
                <a16:creationId xmlns:a16="http://schemas.microsoft.com/office/drawing/2014/main" id="{053DD0FB-F8B6-0AC1-B069-FAF33BC84F8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3F8CC6F-4A58-1698-136A-CD7406116746}"/>
              </a:ext>
            </a:extLst>
          </p:cNvPr>
          <p:cNvSpPr>
            <a:spLocks noGrp="1"/>
          </p:cNvSpPr>
          <p:nvPr>
            <p:ph type="sldNum" sz="quarter" idx="12"/>
          </p:nvPr>
        </p:nvSpPr>
        <p:spPr/>
        <p:txBody>
          <a:bodyPr/>
          <a:lstStyle/>
          <a:p>
            <a:fld id="{5A59D3AF-C160-4ADD-BB60-E089558B7851}" type="slidenum">
              <a:rPr lang="fr-FR" smtClean="0"/>
              <a:t>‹N°›</a:t>
            </a:fld>
            <a:endParaRPr lang="fr-FR"/>
          </a:p>
        </p:txBody>
      </p:sp>
    </p:spTree>
    <p:extLst>
      <p:ext uri="{BB962C8B-B14F-4D97-AF65-F5344CB8AC3E}">
        <p14:creationId xmlns:p14="http://schemas.microsoft.com/office/powerpoint/2010/main" val="2629770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D09ED4-335D-FE00-2665-62A00643711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21BA7AA4-6F4D-8376-B71B-98AD747C83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615DAFE-DA99-2C94-862B-B1EC55185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E9EB7E2-8B18-BCB4-967E-7061A93F59CE}"/>
              </a:ext>
            </a:extLst>
          </p:cNvPr>
          <p:cNvSpPr>
            <a:spLocks noGrp="1"/>
          </p:cNvSpPr>
          <p:nvPr>
            <p:ph type="dt" sz="half" idx="10"/>
          </p:nvPr>
        </p:nvSpPr>
        <p:spPr/>
        <p:txBody>
          <a:bodyPr/>
          <a:lstStyle/>
          <a:p>
            <a:fld id="{D86F7D36-4C96-4C61-8D7E-42196948DD22}" type="datetimeFigureOut">
              <a:rPr lang="fr-FR" smtClean="0"/>
              <a:t>16/10/2026</a:t>
            </a:fld>
            <a:endParaRPr lang="fr-FR"/>
          </a:p>
        </p:txBody>
      </p:sp>
      <p:sp>
        <p:nvSpPr>
          <p:cNvPr id="6" name="Espace réservé du pied de page 5">
            <a:extLst>
              <a:ext uri="{FF2B5EF4-FFF2-40B4-BE49-F238E27FC236}">
                <a16:creationId xmlns:a16="http://schemas.microsoft.com/office/drawing/2014/main" id="{553BC0CC-1703-2C3C-19B0-51A0D3CF848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A46FAE8-4499-67A2-585E-1066A4BE7339}"/>
              </a:ext>
            </a:extLst>
          </p:cNvPr>
          <p:cNvSpPr>
            <a:spLocks noGrp="1"/>
          </p:cNvSpPr>
          <p:nvPr>
            <p:ph type="sldNum" sz="quarter" idx="12"/>
          </p:nvPr>
        </p:nvSpPr>
        <p:spPr/>
        <p:txBody>
          <a:bodyPr/>
          <a:lstStyle/>
          <a:p>
            <a:fld id="{5A59D3AF-C160-4ADD-BB60-E089558B7851}" type="slidenum">
              <a:rPr lang="fr-FR" smtClean="0"/>
              <a:t>‹N°›</a:t>
            </a:fld>
            <a:endParaRPr lang="fr-FR"/>
          </a:p>
        </p:txBody>
      </p:sp>
    </p:spTree>
    <p:extLst>
      <p:ext uri="{BB962C8B-B14F-4D97-AF65-F5344CB8AC3E}">
        <p14:creationId xmlns:p14="http://schemas.microsoft.com/office/powerpoint/2010/main" val="3332147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C73105-03A5-B6F9-B333-39CA6DF8987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85D71BE-3138-1DC1-7B86-BAEC9EE1F44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494EB68-868A-8C31-2FDE-3D74382C66C7}"/>
              </a:ext>
            </a:extLst>
          </p:cNvPr>
          <p:cNvSpPr>
            <a:spLocks noGrp="1"/>
          </p:cNvSpPr>
          <p:nvPr>
            <p:ph type="dt" sz="half" idx="10"/>
          </p:nvPr>
        </p:nvSpPr>
        <p:spPr/>
        <p:txBody>
          <a:bodyPr/>
          <a:lstStyle/>
          <a:p>
            <a:fld id="{D86F7D36-4C96-4C61-8D7E-42196948DD22}" type="datetimeFigureOut">
              <a:rPr lang="fr-FR" smtClean="0"/>
              <a:t>16/10/2026</a:t>
            </a:fld>
            <a:endParaRPr lang="fr-FR"/>
          </a:p>
        </p:txBody>
      </p:sp>
      <p:sp>
        <p:nvSpPr>
          <p:cNvPr id="5" name="Espace réservé du pied de page 4">
            <a:extLst>
              <a:ext uri="{FF2B5EF4-FFF2-40B4-BE49-F238E27FC236}">
                <a16:creationId xmlns:a16="http://schemas.microsoft.com/office/drawing/2014/main" id="{DD9E3915-A79A-E3C4-64F8-7E23263805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D2009FF-C288-475A-BF52-CBD5E223F715}"/>
              </a:ext>
            </a:extLst>
          </p:cNvPr>
          <p:cNvSpPr>
            <a:spLocks noGrp="1"/>
          </p:cNvSpPr>
          <p:nvPr>
            <p:ph type="sldNum" sz="quarter" idx="12"/>
          </p:nvPr>
        </p:nvSpPr>
        <p:spPr/>
        <p:txBody>
          <a:bodyPr/>
          <a:lstStyle/>
          <a:p>
            <a:fld id="{5A59D3AF-C160-4ADD-BB60-E089558B7851}" type="slidenum">
              <a:rPr lang="fr-FR" smtClean="0"/>
              <a:t>‹N°›</a:t>
            </a:fld>
            <a:endParaRPr lang="fr-FR"/>
          </a:p>
        </p:txBody>
      </p:sp>
    </p:spTree>
    <p:extLst>
      <p:ext uri="{BB962C8B-B14F-4D97-AF65-F5344CB8AC3E}">
        <p14:creationId xmlns:p14="http://schemas.microsoft.com/office/powerpoint/2010/main" val="2753685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0B678EF-8C8C-46CA-30C1-D78D9DBA652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06781C0-49E2-6418-26C6-7D9E9CA3411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07DFCA8-57BD-B198-0219-A890155CBC52}"/>
              </a:ext>
            </a:extLst>
          </p:cNvPr>
          <p:cNvSpPr>
            <a:spLocks noGrp="1"/>
          </p:cNvSpPr>
          <p:nvPr>
            <p:ph type="dt" sz="half" idx="10"/>
          </p:nvPr>
        </p:nvSpPr>
        <p:spPr/>
        <p:txBody>
          <a:bodyPr/>
          <a:lstStyle/>
          <a:p>
            <a:fld id="{D86F7D36-4C96-4C61-8D7E-42196948DD22}" type="datetimeFigureOut">
              <a:rPr lang="fr-FR" smtClean="0"/>
              <a:t>16/10/2026</a:t>
            </a:fld>
            <a:endParaRPr lang="fr-FR"/>
          </a:p>
        </p:txBody>
      </p:sp>
      <p:sp>
        <p:nvSpPr>
          <p:cNvPr id="5" name="Espace réservé du pied de page 4">
            <a:extLst>
              <a:ext uri="{FF2B5EF4-FFF2-40B4-BE49-F238E27FC236}">
                <a16:creationId xmlns:a16="http://schemas.microsoft.com/office/drawing/2014/main" id="{E9230E17-47AA-BB03-9D52-7B382BCEBEE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EFC894E-4E9F-CC46-AE4D-ED049EFA1B1D}"/>
              </a:ext>
            </a:extLst>
          </p:cNvPr>
          <p:cNvSpPr>
            <a:spLocks noGrp="1"/>
          </p:cNvSpPr>
          <p:nvPr>
            <p:ph type="sldNum" sz="quarter" idx="12"/>
          </p:nvPr>
        </p:nvSpPr>
        <p:spPr/>
        <p:txBody>
          <a:bodyPr/>
          <a:lstStyle/>
          <a:p>
            <a:fld id="{5A59D3AF-C160-4ADD-BB60-E089558B7851}" type="slidenum">
              <a:rPr lang="fr-FR" smtClean="0"/>
              <a:t>‹N°›</a:t>
            </a:fld>
            <a:endParaRPr lang="fr-FR"/>
          </a:p>
        </p:txBody>
      </p:sp>
    </p:spTree>
    <p:extLst>
      <p:ext uri="{BB962C8B-B14F-4D97-AF65-F5344CB8AC3E}">
        <p14:creationId xmlns:p14="http://schemas.microsoft.com/office/powerpoint/2010/main" val="3628857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9E6846F-E703-3B6F-E617-0C1BB38770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0471E76A-CB28-2362-0B60-03AC88D111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9344C16-E333-3037-F84B-81D4169DEF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6F7D36-4C96-4C61-8D7E-42196948DD22}" type="datetimeFigureOut">
              <a:rPr lang="fr-FR" smtClean="0"/>
              <a:t>16/10/2026</a:t>
            </a:fld>
            <a:endParaRPr lang="fr-FR"/>
          </a:p>
        </p:txBody>
      </p:sp>
      <p:sp>
        <p:nvSpPr>
          <p:cNvPr id="5" name="Espace réservé du pied de page 4">
            <a:extLst>
              <a:ext uri="{FF2B5EF4-FFF2-40B4-BE49-F238E27FC236}">
                <a16:creationId xmlns:a16="http://schemas.microsoft.com/office/drawing/2014/main" id="{4734B41C-CB72-3382-072C-B8D857B213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4C58315-4007-66A5-E570-D7B939E39E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59D3AF-C160-4ADD-BB60-E089558B7851}" type="slidenum">
              <a:rPr lang="fr-FR" smtClean="0"/>
              <a:t>‹N°›</a:t>
            </a:fld>
            <a:endParaRPr lang="fr-FR"/>
          </a:p>
        </p:txBody>
      </p:sp>
      <p:sp>
        <p:nvSpPr>
          <p:cNvPr id="8" name="ZoneTexte 7">
            <a:extLst>
              <a:ext uri="{FF2B5EF4-FFF2-40B4-BE49-F238E27FC236}">
                <a16:creationId xmlns:a16="http://schemas.microsoft.com/office/drawing/2014/main" id="{DE49AD46-AE35-78B6-ABD8-784DFB6A55A1}"/>
              </a:ext>
            </a:extLst>
          </p:cNvPr>
          <p:cNvSpPr txBox="1"/>
          <p:nvPr userDrawn="1">
            <p:extLst>
              <p:ext uri="{1162E1C5-73C7-4A58-AE30-91384D911F3F}">
                <p184:classification xmlns:p184="http://schemas.microsoft.com/office/powerpoint/2018/4/main" val="ftr"/>
              </p:ext>
            </p:extLst>
          </p:nvPr>
        </p:nvSpPr>
        <p:spPr>
          <a:xfrm>
            <a:off x="11334750" y="6642100"/>
            <a:ext cx="828675" cy="152400"/>
          </a:xfrm>
          <a:prstGeom prst="rect">
            <a:avLst/>
          </a:prstGeom>
        </p:spPr>
        <p:txBody>
          <a:bodyPr horzOverflow="overflow" lIns="0" tIns="0" rIns="0" bIns="0">
            <a:spAutoFit/>
          </a:bodyPr>
          <a:lstStyle/>
          <a:p>
            <a:pPr algn="l"/>
            <a:r>
              <a:rPr lang="fr-FR" sz="1000">
                <a:solidFill>
                  <a:srgbClr val="000000">
                    <a:alpha val="50000"/>
                  </a:srgbClr>
                </a:solidFill>
                <a:latin typeface="Arial" panose="020B0604020202020204" pitchFamily="34" charset="0"/>
                <a:cs typeface="Arial" panose="020B0604020202020204" pitchFamily="34" charset="0"/>
              </a:rPr>
              <a:t>Confidential C</a:t>
            </a:r>
          </a:p>
        </p:txBody>
      </p:sp>
    </p:spTree>
    <p:extLst>
      <p:ext uri="{BB962C8B-B14F-4D97-AF65-F5344CB8AC3E}">
        <p14:creationId xmlns:p14="http://schemas.microsoft.com/office/powerpoint/2010/main" val="2062170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github.com/tensorflow/tfjs-models/tree/master/coco-ssd" TargetMode="Externa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https://developers.cloudflare.com/pages/configuration/git-integration/" TargetMode="Externa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useBgFill="1">
        <p:nvSpPr>
          <p:cNvPr id="29" name="Rectangle 28">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solidFill>
            <a:schemeClr val="bg1"/>
          </a:solidFill>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solidFill>
                <a:prstClr val="white"/>
              </a:solidFill>
              <a:latin typeface="Calibri" panose="020F0502020204030204"/>
            </a:endParaRPr>
          </a:p>
        </p:txBody>
      </p:sp>
      <p:sp>
        <p:nvSpPr>
          <p:cNvPr id="5" name="ZoneTexte 4">
            <a:extLst>
              <a:ext uri="{FF2B5EF4-FFF2-40B4-BE49-F238E27FC236}">
                <a16:creationId xmlns:a16="http://schemas.microsoft.com/office/drawing/2014/main" id="{40BA3CDC-A035-88F0-6DF5-830139289770}"/>
              </a:ext>
            </a:extLst>
          </p:cNvPr>
          <p:cNvSpPr txBox="1"/>
          <p:nvPr/>
        </p:nvSpPr>
        <p:spPr>
          <a:xfrm>
            <a:off x="1804988" y="1442172"/>
            <a:ext cx="8582025" cy="2177328"/>
          </a:xfrm>
          <a:prstGeom prst="rect">
            <a:avLst/>
          </a:prstGeom>
        </p:spPr>
        <p:txBody>
          <a:bodyPr vert="horz" lIns="91440" tIns="45720" rIns="91440" bIns="45720" rtlCol="0" anchor="ctr">
            <a:normAutofit fontScale="85000" lnSpcReduction="20000"/>
          </a:bodyPr>
          <a:lstStyle/>
          <a:p>
            <a:pPr algn="ctr">
              <a:lnSpc>
                <a:spcPct val="90000"/>
              </a:lnSpc>
              <a:spcBef>
                <a:spcPct val="0"/>
              </a:spcBef>
              <a:spcAft>
                <a:spcPts val="600"/>
              </a:spcAft>
            </a:pPr>
            <a:r>
              <a:rPr lang="fr-FR" sz="8000" b="1" noProof="0" dirty="0"/>
              <a:t>EXAMEN FINAL EPITA </a:t>
            </a:r>
            <a:br>
              <a:rPr lang="fr-FR" sz="8000" b="1" noProof="0" dirty="0"/>
            </a:br>
            <a:r>
              <a:rPr lang="fr-FR" sz="6600" b="1" noProof="0" dirty="0"/>
              <a:t>IA FOR Managers </a:t>
            </a:r>
            <a:br>
              <a:rPr lang="fr-FR" sz="6600" b="1" noProof="0" dirty="0"/>
            </a:br>
            <a:r>
              <a:rPr lang="fr-FR" sz="6600" b="1" noProof="0" dirty="0"/>
              <a:t> </a:t>
            </a:r>
            <a:r>
              <a:rPr lang="fr-FR" sz="1900" b="1" noProof="0" dirty="0"/>
              <a:t>EPITA Smart Classroom</a:t>
            </a:r>
            <a:endParaRPr lang="fr-FR" sz="1900" b="1" kern="1200" noProof="0" dirty="0">
              <a:solidFill>
                <a:schemeClr val="tx1"/>
              </a:solidFill>
              <a:latin typeface="+mj-lt"/>
              <a:ea typeface="+mj-ea"/>
              <a:cs typeface="+mj-cs"/>
            </a:endParaRPr>
          </a:p>
        </p:txBody>
      </p:sp>
      <p:sp>
        <p:nvSpPr>
          <p:cNvPr id="30" name="Rectangle: Rounded Corners 14">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4" name="Image 3" descr="Une image contenant Graphique, Police, Bleu électrique, graphisme&#10;&#10;Le contenu généré par l’IA peut être incorrect.">
            <a:extLst>
              <a:ext uri="{FF2B5EF4-FFF2-40B4-BE49-F238E27FC236}">
                <a16:creationId xmlns:a16="http://schemas.microsoft.com/office/drawing/2014/main" id="{B983C26E-1BE5-C9F6-D39B-881DA87B9BC8}"/>
              </a:ext>
            </a:extLst>
          </p:cNvPr>
          <p:cNvPicPr>
            <a:picLocks noChangeAspect="1"/>
          </p:cNvPicPr>
          <p:nvPr/>
        </p:nvPicPr>
        <p:blipFill>
          <a:blip r:embed="rId3"/>
          <a:stretch>
            <a:fillRect/>
          </a:stretch>
        </p:blipFill>
        <p:spPr>
          <a:xfrm>
            <a:off x="11137635" y="123382"/>
            <a:ext cx="929721" cy="693480"/>
          </a:xfrm>
          <a:prstGeom prst="rect">
            <a:avLst/>
          </a:prstGeom>
        </p:spPr>
      </p:pic>
      <p:pic>
        <p:nvPicPr>
          <p:cNvPr id="6" name="Picture 2" descr="Logo de DataClass AI">
            <a:extLst>
              <a:ext uri="{FF2B5EF4-FFF2-40B4-BE49-F238E27FC236}">
                <a16:creationId xmlns:a16="http://schemas.microsoft.com/office/drawing/2014/main" id="{3DFA10CE-7FF4-7756-2E02-41B49A9EB0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644" y="45183"/>
            <a:ext cx="952500" cy="952500"/>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9BC14493-C680-98FE-122F-78A86741E2B3}"/>
              </a:ext>
            </a:extLst>
          </p:cNvPr>
          <p:cNvSpPr txBox="1"/>
          <p:nvPr/>
        </p:nvSpPr>
        <p:spPr>
          <a:xfrm>
            <a:off x="124644" y="5610225"/>
            <a:ext cx="6096000" cy="646331"/>
          </a:xfrm>
          <a:prstGeom prst="rect">
            <a:avLst/>
          </a:prstGeom>
          <a:noFill/>
        </p:spPr>
        <p:txBody>
          <a:bodyPr wrap="square">
            <a:spAutoFit/>
          </a:bodyPr>
          <a:lstStyle/>
          <a:p>
            <a:r>
              <a:rPr lang="fr-FR" b="1" noProof="0" dirty="0"/>
              <a:t>Auteur : Omar CORTY</a:t>
            </a:r>
            <a:br>
              <a:rPr lang="fr-FR" b="1" noProof="0" dirty="0"/>
            </a:br>
            <a:r>
              <a:rPr lang="fr-FR" b="1" noProof="0" dirty="0"/>
              <a:t>Spécialisation : Data &amp; IA Program Management </a:t>
            </a:r>
          </a:p>
        </p:txBody>
      </p:sp>
      <p:sp>
        <p:nvSpPr>
          <p:cNvPr id="9" name="ZoneTexte 8">
            <a:extLst>
              <a:ext uri="{FF2B5EF4-FFF2-40B4-BE49-F238E27FC236}">
                <a16:creationId xmlns:a16="http://schemas.microsoft.com/office/drawing/2014/main" id="{10E7200A-89C6-FECE-F992-14FF8B647F95}"/>
              </a:ext>
            </a:extLst>
          </p:cNvPr>
          <p:cNvSpPr txBox="1"/>
          <p:nvPr/>
        </p:nvSpPr>
        <p:spPr>
          <a:xfrm>
            <a:off x="40645" y="6443485"/>
            <a:ext cx="1300356" cy="369332"/>
          </a:xfrm>
          <a:prstGeom prst="rect">
            <a:avLst/>
          </a:prstGeom>
          <a:noFill/>
        </p:spPr>
        <p:txBody>
          <a:bodyPr wrap="none" rtlCol="0">
            <a:spAutoFit/>
          </a:bodyPr>
          <a:lstStyle/>
          <a:p>
            <a:r>
              <a:rPr lang="fr-FR" dirty="0"/>
              <a:t>16</a:t>
            </a:r>
            <a:r>
              <a:rPr lang="fr-FR" noProof="0" dirty="0"/>
              <a:t>/</a:t>
            </a:r>
            <a:r>
              <a:rPr lang="fr-FR" dirty="0"/>
              <a:t>10</a:t>
            </a:r>
            <a:r>
              <a:rPr lang="fr-FR" noProof="0" dirty="0"/>
              <a:t>/2026</a:t>
            </a:r>
          </a:p>
        </p:txBody>
      </p:sp>
      <p:sp>
        <p:nvSpPr>
          <p:cNvPr id="10" name="ZoneTexte 9">
            <a:extLst>
              <a:ext uri="{FF2B5EF4-FFF2-40B4-BE49-F238E27FC236}">
                <a16:creationId xmlns:a16="http://schemas.microsoft.com/office/drawing/2014/main" id="{00C02679-5DA2-5B2A-EC07-F538EED6C5D2}"/>
              </a:ext>
            </a:extLst>
          </p:cNvPr>
          <p:cNvSpPr txBox="1"/>
          <p:nvPr/>
        </p:nvSpPr>
        <p:spPr>
          <a:xfrm>
            <a:off x="5556039" y="6475452"/>
            <a:ext cx="308098" cy="369332"/>
          </a:xfrm>
          <a:prstGeom prst="rect">
            <a:avLst/>
          </a:prstGeom>
          <a:noFill/>
        </p:spPr>
        <p:txBody>
          <a:bodyPr wrap="none" rtlCol="0">
            <a:spAutoFit/>
          </a:bodyPr>
          <a:lstStyle/>
          <a:p>
            <a:r>
              <a:rPr lang="fr-FR" noProof="0" dirty="0"/>
              <a:t>1</a:t>
            </a:r>
          </a:p>
        </p:txBody>
      </p:sp>
      <p:sp>
        <p:nvSpPr>
          <p:cNvPr id="12" name="ZoneTexte 11">
            <a:extLst>
              <a:ext uri="{FF2B5EF4-FFF2-40B4-BE49-F238E27FC236}">
                <a16:creationId xmlns:a16="http://schemas.microsoft.com/office/drawing/2014/main" id="{0379C654-C8B9-98E2-FB92-A0A9DB855591}"/>
              </a:ext>
            </a:extLst>
          </p:cNvPr>
          <p:cNvSpPr txBox="1"/>
          <p:nvPr/>
        </p:nvSpPr>
        <p:spPr>
          <a:xfrm>
            <a:off x="8486642" y="5240893"/>
            <a:ext cx="3262535" cy="369332"/>
          </a:xfrm>
          <a:prstGeom prst="rect">
            <a:avLst/>
          </a:prstGeom>
          <a:noFill/>
        </p:spPr>
        <p:txBody>
          <a:bodyPr wrap="square">
            <a:spAutoFit/>
          </a:bodyPr>
          <a:lstStyle/>
          <a:p>
            <a:r>
              <a:rPr lang="fr-FR" b="1" dirty="0"/>
              <a:t>GITM</a:t>
            </a:r>
            <a:endParaRPr lang="fr-FR" b="1" noProof="0" dirty="0"/>
          </a:p>
        </p:txBody>
      </p:sp>
    </p:spTree>
    <p:extLst>
      <p:ext uri="{BB962C8B-B14F-4D97-AF65-F5344CB8AC3E}">
        <p14:creationId xmlns:p14="http://schemas.microsoft.com/office/powerpoint/2010/main" val="379138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39C64-E0C2-4568-8ACA-FF809178A0C8}"/>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01947235-9972-1CC5-F7D4-B220D26311B7}"/>
              </a:ext>
            </a:extLst>
          </p:cNvPr>
          <p:cNvPicPr>
            <a:picLocks noChangeAspect="1"/>
          </p:cNvPicPr>
          <p:nvPr/>
        </p:nvPicPr>
        <p:blipFill>
          <a:blip r:embed="rId3"/>
          <a:stretch>
            <a:fillRect/>
          </a:stretch>
        </p:blipFill>
        <p:spPr>
          <a:xfrm>
            <a:off x="11137635" y="123382"/>
            <a:ext cx="929721" cy="693480"/>
          </a:xfrm>
          <a:prstGeom prst="rect">
            <a:avLst/>
          </a:prstGeom>
        </p:spPr>
      </p:pic>
      <p:pic>
        <p:nvPicPr>
          <p:cNvPr id="2050" name="Picture 2" descr="Logo de DataClass AI">
            <a:extLst>
              <a:ext uri="{FF2B5EF4-FFF2-40B4-BE49-F238E27FC236}">
                <a16:creationId xmlns:a16="http://schemas.microsoft.com/office/drawing/2014/main" id="{4F170FA4-D9B3-4DEE-9811-F4CF41475A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644" y="45183"/>
            <a:ext cx="952500" cy="952500"/>
          </a:xfrm>
          <a:prstGeom prst="rect">
            <a:avLst/>
          </a:prstGeom>
          <a:noFill/>
          <a:extLst>
            <a:ext uri="{909E8E84-426E-40DD-AFC4-6F175D3DCCD1}">
              <a14:hiddenFill xmlns:a14="http://schemas.microsoft.com/office/drawing/2010/main">
                <a:solidFill>
                  <a:srgbClr val="FFFFFF"/>
                </a:solidFill>
              </a14:hiddenFill>
            </a:ext>
          </a:extLst>
        </p:spPr>
      </p:pic>
      <p:sp>
        <p:nvSpPr>
          <p:cNvPr id="14" name="ZoneTexte 13">
            <a:extLst>
              <a:ext uri="{FF2B5EF4-FFF2-40B4-BE49-F238E27FC236}">
                <a16:creationId xmlns:a16="http://schemas.microsoft.com/office/drawing/2014/main" id="{9E95028B-0CF6-5F1C-0171-2DBB1059F128}"/>
              </a:ext>
            </a:extLst>
          </p:cNvPr>
          <p:cNvSpPr txBox="1"/>
          <p:nvPr/>
        </p:nvSpPr>
        <p:spPr>
          <a:xfrm>
            <a:off x="5556039" y="6475452"/>
            <a:ext cx="266420" cy="276999"/>
          </a:xfrm>
          <a:prstGeom prst="rect">
            <a:avLst/>
          </a:prstGeom>
          <a:noFill/>
        </p:spPr>
        <p:txBody>
          <a:bodyPr wrap="none" rtlCol="0">
            <a:spAutoFit/>
          </a:bodyPr>
          <a:lstStyle/>
          <a:p>
            <a:r>
              <a:rPr lang="fr-FR" sz="1200" dirty="0"/>
              <a:t>2</a:t>
            </a:r>
            <a:endParaRPr lang="fr-FR" sz="1200" noProof="0" dirty="0"/>
          </a:p>
        </p:txBody>
      </p:sp>
      <p:sp>
        <p:nvSpPr>
          <p:cNvPr id="8" name="ZoneTexte 7">
            <a:extLst>
              <a:ext uri="{FF2B5EF4-FFF2-40B4-BE49-F238E27FC236}">
                <a16:creationId xmlns:a16="http://schemas.microsoft.com/office/drawing/2014/main" id="{263EAF7E-7639-7763-447E-8667EB9D236E}"/>
              </a:ext>
            </a:extLst>
          </p:cNvPr>
          <p:cNvSpPr txBox="1"/>
          <p:nvPr/>
        </p:nvSpPr>
        <p:spPr>
          <a:xfrm>
            <a:off x="0" y="6581001"/>
            <a:ext cx="853119" cy="276999"/>
          </a:xfrm>
          <a:prstGeom prst="rect">
            <a:avLst/>
          </a:prstGeom>
          <a:noFill/>
        </p:spPr>
        <p:txBody>
          <a:bodyPr wrap="none" rtlCol="0">
            <a:spAutoFit/>
          </a:bodyPr>
          <a:lstStyle/>
          <a:p>
            <a:r>
              <a:rPr lang="fr-FR" sz="1200" noProof="0" dirty="0"/>
              <a:t>05/06/202</a:t>
            </a:r>
          </a:p>
        </p:txBody>
      </p:sp>
      <p:sp>
        <p:nvSpPr>
          <p:cNvPr id="10" name="ZoneTexte 9">
            <a:extLst>
              <a:ext uri="{FF2B5EF4-FFF2-40B4-BE49-F238E27FC236}">
                <a16:creationId xmlns:a16="http://schemas.microsoft.com/office/drawing/2014/main" id="{31449A2C-4624-7A25-F443-3C0F4BA020E6}"/>
              </a:ext>
            </a:extLst>
          </p:cNvPr>
          <p:cNvSpPr txBox="1"/>
          <p:nvPr/>
        </p:nvSpPr>
        <p:spPr>
          <a:xfrm>
            <a:off x="4086198" y="176558"/>
            <a:ext cx="4244368" cy="738664"/>
          </a:xfrm>
          <a:prstGeom prst="rect">
            <a:avLst/>
          </a:prstGeom>
          <a:noFill/>
        </p:spPr>
        <p:txBody>
          <a:bodyPr wrap="none" rtlCol="0">
            <a:spAutoFit/>
          </a:bodyPr>
          <a:lstStyle/>
          <a:p>
            <a:pPr algn="ctr"/>
            <a:r>
              <a:rPr lang="fr-FR" sz="2400" b="1" noProof="0" dirty="0"/>
              <a:t>🧠 EXAMEN FINAL EPITA </a:t>
            </a:r>
            <a:br>
              <a:rPr lang="fr-FR" sz="2400" b="1" noProof="0" dirty="0"/>
            </a:br>
            <a:r>
              <a:rPr lang="fr-FR" b="1" noProof="0" dirty="0"/>
              <a:t>IA FOR Managers – EPITA Smart Classroom</a:t>
            </a:r>
          </a:p>
        </p:txBody>
      </p:sp>
      <p:graphicFrame>
        <p:nvGraphicFramePr>
          <p:cNvPr id="7" name="Tableau 6">
            <a:extLst>
              <a:ext uri="{FF2B5EF4-FFF2-40B4-BE49-F238E27FC236}">
                <a16:creationId xmlns:a16="http://schemas.microsoft.com/office/drawing/2014/main" id="{77478B55-4035-AC74-E961-3E14D287D3C8}"/>
              </a:ext>
            </a:extLst>
          </p:cNvPr>
          <p:cNvGraphicFramePr>
            <a:graphicFrameLocks noGrp="1"/>
          </p:cNvGraphicFramePr>
          <p:nvPr>
            <p:extLst>
              <p:ext uri="{D42A27DB-BD31-4B8C-83A1-F6EECF244321}">
                <p14:modId xmlns:p14="http://schemas.microsoft.com/office/powerpoint/2010/main" val="2046259571"/>
              </p:ext>
            </p:extLst>
          </p:nvPr>
        </p:nvGraphicFramePr>
        <p:xfrm>
          <a:off x="124644" y="1290529"/>
          <a:ext cx="5697815" cy="4885816"/>
        </p:xfrm>
        <a:graphic>
          <a:graphicData uri="http://schemas.openxmlformats.org/drawingml/2006/table">
            <a:tbl>
              <a:tblPr>
                <a:tableStyleId>{2D5ABB26-0587-4C30-8999-92F81FD0307C}</a:tableStyleId>
              </a:tblPr>
              <a:tblGrid>
                <a:gridCol w="5697815">
                  <a:extLst>
                    <a:ext uri="{9D8B030D-6E8A-4147-A177-3AD203B41FA5}">
                      <a16:colId xmlns:a16="http://schemas.microsoft.com/office/drawing/2014/main" val="20018317"/>
                    </a:ext>
                  </a:extLst>
                </a:gridCol>
              </a:tblGrid>
              <a:tr h="2243569">
                <a:tc>
                  <a:txBody>
                    <a:bodyPr/>
                    <a:lstStyle/>
                    <a:p>
                      <a:pPr fontAlgn="t">
                        <a:lnSpc>
                          <a:spcPts val="1500"/>
                        </a:lnSpc>
                        <a:buNone/>
                      </a:pPr>
                      <a:r>
                        <a:rPr lang="fr-FR" sz="1200" b="1" dirty="0">
                          <a:solidFill>
                            <a:schemeClr val="tx2">
                              <a:lumMod val="50000"/>
                              <a:lumOff val="50000"/>
                            </a:schemeClr>
                          </a:solidFill>
                          <a:effectLst/>
                        </a:rPr>
                        <a:t>ÉNONCÉ</a:t>
                      </a:r>
                    </a:p>
                    <a:p>
                      <a:r>
                        <a:rPr lang="fr-FR" sz="1200" b="0" kern="1200" dirty="0">
                          <a:solidFill>
                            <a:schemeClr val="tx1"/>
                          </a:solidFill>
                          <a:effectLst/>
                          <a:latin typeface="+mn-lt"/>
                          <a:ea typeface="+mn-ea"/>
                          <a:cs typeface="+mn-cs"/>
                        </a:rPr>
                        <a:t>L’EPITA souhaite expérimenter une application capable d’aider à vérifier la configuration de ses salles de cours.</a:t>
                      </a:r>
                    </a:p>
                    <a:p>
                      <a:r>
                        <a:rPr lang="fr-FR" sz="1200" b="0" kern="1200" dirty="0">
                          <a:solidFill>
                            <a:schemeClr val="tx1"/>
                          </a:solidFill>
                          <a:effectLst/>
                          <a:latin typeface="+mn-lt"/>
                          <a:ea typeface="+mn-ea"/>
                          <a:cs typeface="+mn-cs"/>
                        </a:rPr>
                        <a:t>Vous êtes responsable d’un projet d’intelligence artificielle. Votre mission consiste à concevoir, développer et déployer une application web permettant d’analyser visuellement une salle, de détecter les équipements présents et de comparer les résultats à une configuration attendue.</a:t>
                      </a:r>
                    </a:p>
                    <a:p>
                      <a:r>
                        <a:rPr lang="fr-FR" sz="1200" b="0" kern="1200" dirty="0">
                          <a:solidFill>
                            <a:schemeClr val="tx1"/>
                          </a:solidFill>
                          <a:effectLst/>
                          <a:latin typeface="+mn-lt"/>
                          <a:ea typeface="+mn-ea"/>
                          <a:cs typeface="+mn-cs"/>
                        </a:rPr>
                        <a:t>L’application doit être simple à utiliser, visuellement soignée et compréhensible par un responsable non technique.</a:t>
                      </a:r>
                    </a:p>
                    <a:p>
                      <a:r>
                        <a:rPr lang="fr-FR" sz="1200" b="0" kern="1200" dirty="0">
                          <a:solidFill>
                            <a:schemeClr val="tx1"/>
                          </a:solidFill>
                          <a:effectLst/>
                          <a:latin typeface="+mn-lt"/>
                          <a:ea typeface="+mn-ea"/>
                          <a:cs typeface="+mn-cs"/>
                        </a:rPr>
                        <a:t>Vous devez gérer le projet de bout en bout : cadrage, conception, développement, tests, déploiement et présentation.</a:t>
                      </a:r>
                    </a:p>
                    <a:p>
                      <a:pPr marL="0" indent="0" fontAlgn="t">
                        <a:lnSpc>
                          <a:spcPts val="1500"/>
                        </a:lnSpc>
                        <a:buFont typeface="Wingdings" panose="05000000000000000000" pitchFamily="2" charset="2"/>
                        <a:buNone/>
                      </a:pPr>
                      <a:br>
                        <a:rPr lang="fr-FR" sz="1200" b="0" dirty="0">
                          <a:effectLst/>
                        </a:rPr>
                      </a:br>
                      <a:endParaRPr lang="fr-FR" sz="1200" b="0" dirty="0">
                        <a:effectLst/>
                      </a:endParaRPr>
                    </a:p>
                    <a:p>
                      <a:pPr marL="0" algn="l" defTabSz="914400" rtl="0" eaLnBrk="1" fontAlgn="t" latinLnBrk="0" hangingPunct="1">
                        <a:lnSpc>
                          <a:spcPts val="1500"/>
                        </a:lnSpc>
                        <a:buNone/>
                      </a:pPr>
                      <a:r>
                        <a:rPr lang="fr-FR" sz="1200" b="1" kern="1200" dirty="0">
                          <a:solidFill>
                            <a:schemeClr val="tx2">
                              <a:lumMod val="50000"/>
                              <a:lumOff val="50000"/>
                            </a:schemeClr>
                          </a:solidFill>
                          <a:effectLst/>
                          <a:latin typeface="+mn-lt"/>
                          <a:ea typeface="+mn-ea"/>
                          <a:cs typeface="+mn-cs"/>
                        </a:rPr>
                        <a:t>2. Objectif fonctionnel</a:t>
                      </a:r>
                    </a:p>
                    <a:p>
                      <a:r>
                        <a:rPr lang="fr-FR" sz="1200" b="0" kern="1200" dirty="0">
                          <a:solidFill>
                            <a:schemeClr val="tx1"/>
                          </a:solidFill>
                          <a:effectLst/>
                          <a:latin typeface="+mn-lt"/>
                          <a:ea typeface="+mn-ea"/>
                          <a:cs typeface="+mn-cs"/>
                        </a:rPr>
                        <a:t>Développer une application appelée EPITA Smart Classroom permettant de réaliser un audit visuel d’une salle de cours.</a:t>
                      </a:r>
                    </a:p>
                    <a:p>
                      <a:r>
                        <a:rPr lang="fr-FR" sz="1200" b="0" kern="1200" dirty="0">
                          <a:solidFill>
                            <a:schemeClr val="tx1"/>
                          </a:solidFill>
                          <a:effectLst/>
                          <a:latin typeface="+mn-lt"/>
                          <a:ea typeface="+mn-ea"/>
                          <a:cs typeface="+mn-cs"/>
                        </a:rPr>
                        <a:t>Les objets ciblés sont :</a:t>
                      </a:r>
                    </a:p>
                    <a:p>
                      <a:r>
                        <a:rPr lang="fr-FR" sz="1200" b="0" kern="1200" dirty="0">
                          <a:solidFill>
                            <a:schemeClr val="tx1"/>
                          </a:solidFill>
                          <a:effectLst/>
                          <a:latin typeface="+mn-lt"/>
                          <a:ea typeface="+mn-ea"/>
                          <a:cs typeface="+mn-cs"/>
                        </a:rPr>
                        <a:t>Les chaises.</a:t>
                      </a:r>
                    </a:p>
                    <a:p>
                      <a:r>
                        <a:rPr lang="fr-FR" sz="1200" b="0" kern="1200" dirty="0">
                          <a:solidFill>
                            <a:schemeClr val="tx1"/>
                          </a:solidFill>
                          <a:effectLst/>
                          <a:latin typeface="+mn-lt"/>
                          <a:ea typeface="+mn-ea"/>
                          <a:cs typeface="+mn-cs"/>
                        </a:rPr>
                        <a:t>Les tables et bureaux.</a:t>
                      </a:r>
                    </a:p>
                    <a:p>
                      <a:r>
                        <a:rPr lang="fr-FR" sz="1200" b="0" kern="1200" dirty="0">
                          <a:solidFill>
                            <a:schemeClr val="tx1"/>
                          </a:solidFill>
                          <a:effectLst/>
                          <a:latin typeface="+mn-lt"/>
                          <a:ea typeface="+mn-ea"/>
                          <a:cs typeface="+mn-cs"/>
                        </a:rPr>
                        <a:t>Les ordinateurs portables.</a:t>
                      </a:r>
                    </a:p>
                    <a:p>
                      <a:r>
                        <a:rPr lang="fr-FR" sz="1200" b="0" kern="1200" dirty="0">
                          <a:solidFill>
                            <a:schemeClr val="tx1"/>
                          </a:solidFill>
                          <a:effectLst/>
                          <a:latin typeface="+mn-lt"/>
                          <a:ea typeface="+mn-ea"/>
                          <a:cs typeface="+mn-cs"/>
                        </a:rPr>
                        <a:t>Les écrans.</a:t>
                      </a:r>
                    </a:p>
                    <a:p>
                      <a:r>
                        <a:rPr lang="fr-FR" sz="1200" b="0" kern="1200" dirty="0">
                          <a:solidFill>
                            <a:schemeClr val="tx1"/>
                          </a:solidFill>
                          <a:effectLst/>
                          <a:latin typeface="+mn-lt"/>
                          <a:ea typeface="+mn-ea"/>
                          <a:cs typeface="+mn-cs"/>
                        </a:rPr>
                        <a:t>Le tableau.</a:t>
                      </a:r>
                    </a:p>
                    <a:p>
                      <a:r>
                        <a:rPr lang="fr-FR" sz="1200" b="0" kern="1200" dirty="0">
                          <a:solidFill>
                            <a:schemeClr val="tx1"/>
                          </a:solidFill>
                          <a:effectLst/>
                          <a:latin typeface="+mn-lt"/>
                          <a:ea typeface="+mn-ea"/>
                          <a:cs typeface="+mn-cs"/>
                        </a:rPr>
                        <a:t>Les fenêtres.</a:t>
                      </a:r>
                    </a:p>
                    <a:p>
                      <a:pPr marL="0" algn="l" defTabSz="914400" rtl="0" eaLnBrk="1" latinLnBrk="0" hangingPunct="1"/>
                      <a:r>
                        <a:rPr lang="fr-FR" sz="1200" b="0" kern="1200" dirty="0">
                          <a:solidFill>
                            <a:schemeClr val="tx1"/>
                          </a:solidFill>
                          <a:effectLst/>
                          <a:latin typeface="+mn-lt"/>
                          <a:ea typeface="+mn-ea"/>
                          <a:cs typeface="+mn-cs"/>
                        </a:rPr>
                        <a:t>Les autres équipements de la salle, lorsque le modèle choisi permet de les reconnaître.</a:t>
                      </a:r>
                    </a:p>
                    <a:p>
                      <a:pPr fontAlgn="t">
                        <a:lnSpc>
                          <a:spcPts val="1500"/>
                        </a:lnSpc>
                        <a:buNone/>
                      </a:pPr>
                      <a:br>
                        <a:rPr lang="fr-FR" sz="1200" b="0" dirty="0">
                          <a:effectLst/>
                        </a:rPr>
                      </a:br>
                      <a:endParaRPr lang="fr-FR" sz="1200" b="0" dirty="0">
                        <a:effectLst/>
                      </a:endParaRPr>
                    </a:p>
                  </a:txBody>
                  <a:tcPr marL="85216" marR="85216" marT="42608" marB="42608"/>
                </a:tc>
                <a:extLst>
                  <a:ext uri="{0D108BD9-81ED-4DB2-BD59-A6C34878D82A}">
                    <a16:rowId xmlns:a16="http://schemas.microsoft.com/office/drawing/2014/main" val="1896201949"/>
                  </a:ext>
                </a:extLst>
              </a:tr>
            </a:tbl>
          </a:graphicData>
        </a:graphic>
      </p:graphicFrame>
      <p:sp>
        <p:nvSpPr>
          <p:cNvPr id="11" name="ZoneTexte 10">
            <a:extLst>
              <a:ext uri="{FF2B5EF4-FFF2-40B4-BE49-F238E27FC236}">
                <a16:creationId xmlns:a16="http://schemas.microsoft.com/office/drawing/2014/main" id="{464FDB9E-D921-9235-204A-60D6F8C3554B}"/>
              </a:ext>
            </a:extLst>
          </p:cNvPr>
          <p:cNvSpPr txBox="1"/>
          <p:nvPr/>
        </p:nvSpPr>
        <p:spPr>
          <a:xfrm>
            <a:off x="7567127" y="1483567"/>
            <a:ext cx="184731" cy="369332"/>
          </a:xfrm>
          <a:prstGeom prst="rect">
            <a:avLst/>
          </a:prstGeom>
          <a:noFill/>
        </p:spPr>
        <p:txBody>
          <a:bodyPr wrap="none" rtlCol="0">
            <a:spAutoFit/>
          </a:bodyPr>
          <a:lstStyle/>
          <a:p>
            <a:endParaRPr lang="fr-FR" dirty="0"/>
          </a:p>
        </p:txBody>
      </p:sp>
      <p:graphicFrame>
        <p:nvGraphicFramePr>
          <p:cNvPr id="13" name="Tableau 12">
            <a:extLst>
              <a:ext uri="{FF2B5EF4-FFF2-40B4-BE49-F238E27FC236}">
                <a16:creationId xmlns:a16="http://schemas.microsoft.com/office/drawing/2014/main" id="{5F79B36B-2CD4-FEE1-EE93-BF5867208EE0}"/>
              </a:ext>
            </a:extLst>
          </p:cNvPr>
          <p:cNvGraphicFramePr>
            <a:graphicFrameLocks noGrp="1"/>
          </p:cNvGraphicFramePr>
          <p:nvPr>
            <p:extLst>
              <p:ext uri="{D42A27DB-BD31-4B8C-83A1-F6EECF244321}">
                <p14:modId xmlns:p14="http://schemas.microsoft.com/office/powerpoint/2010/main" val="3516198265"/>
              </p:ext>
            </p:extLst>
          </p:nvPr>
        </p:nvGraphicFramePr>
        <p:xfrm>
          <a:off x="6208382" y="1290529"/>
          <a:ext cx="5705457" cy="5311140"/>
        </p:xfrm>
        <a:graphic>
          <a:graphicData uri="http://schemas.openxmlformats.org/drawingml/2006/table">
            <a:tbl>
              <a:tblPr>
                <a:tableStyleId>{2D5ABB26-0587-4C30-8999-92F81FD0307C}</a:tableStyleId>
              </a:tblPr>
              <a:tblGrid>
                <a:gridCol w="5705457">
                  <a:extLst>
                    <a:ext uri="{9D8B030D-6E8A-4147-A177-3AD203B41FA5}">
                      <a16:colId xmlns:a16="http://schemas.microsoft.com/office/drawing/2014/main" val="995136359"/>
                    </a:ext>
                  </a:extLst>
                </a:gridCol>
              </a:tblGrid>
              <a:tr h="0">
                <a:tc>
                  <a:txBody>
                    <a:bodyPr/>
                    <a:lstStyle/>
                    <a:p>
                      <a:pPr marL="0" algn="l" defTabSz="914400" rtl="0" eaLnBrk="1" fontAlgn="t" latinLnBrk="0" hangingPunct="1">
                        <a:lnSpc>
                          <a:spcPts val="1500"/>
                        </a:lnSpc>
                        <a:buNone/>
                      </a:pPr>
                      <a:r>
                        <a:rPr lang="fr-FR" sz="1200" b="1" kern="1200" dirty="0">
                          <a:solidFill>
                            <a:schemeClr val="tx2">
                              <a:lumMod val="50000"/>
                              <a:lumOff val="50000"/>
                            </a:schemeClr>
                          </a:solidFill>
                          <a:effectLst/>
                          <a:latin typeface="+mn-lt"/>
                          <a:ea typeface="+mn-ea"/>
                          <a:cs typeface="+mn-cs"/>
                        </a:rPr>
                        <a:t>3. Type d’intelligence artificielle</a:t>
                      </a:r>
                    </a:p>
                    <a:p>
                      <a:r>
                        <a:rPr lang="fr-FR" sz="1200" b="0" kern="1200" dirty="0">
                          <a:solidFill>
                            <a:schemeClr val="tx1"/>
                          </a:solidFill>
                          <a:effectLst/>
                          <a:latin typeface="+mn-lt"/>
                          <a:ea typeface="+mn-ea"/>
                          <a:cs typeface="+mn-cs"/>
                        </a:rPr>
                        <a:t>Le projet repose sur l’apprentissage supervisé, au moyen d’un modèle pré-entraîné de détection d’objets.</a:t>
                      </a:r>
                    </a:p>
                    <a:p>
                      <a:r>
                        <a:rPr lang="fr-FR" sz="1200" b="0" kern="1200" dirty="0">
                          <a:solidFill>
                            <a:schemeClr val="tx1"/>
                          </a:solidFill>
                          <a:effectLst/>
                          <a:latin typeface="+mn-lt"/>
                          <a:ea typeface="+mn-ea"/>
                          <a:cs typeface="+mn-cs"/>
                        </a:rPr>
                        <a:t>Vous n’avez pas à entraîner un modèle depuis zéro. Vous devez utiliser un modèle existant, comprendre ses limites et intégrer ses prédictions dans votre application.</a:t>
                      </a:r>
                    </a:p>
                    <a:p>
                      <a:r>
                        <a:rPr lang="fr-FR" sz="1200" b="0" kern="1200" dirty="0">
                          <a:solidFill>
                            <a:schemeClr val="tx1"/>
                          </a:solidFill>
                          <a:effectLst/>
                          <a:latin typeface="+mn-lt"/>
                          <a:ea typeface="+mn-ea"/>
                          <a:cs typeface="+mn-cs"/>
                        </a:rPr>
                        <a:t>Vous pouvez, par exemple, utiliser TensorFlow.js avec le modèle COCO-SSD. Celui-ci reconnaît notamment les chaises, les tables à manger et les ordinateurs portables. Il ne reconnaît pas nécessairement les tableaux et les fenêtres. </a:t>
                      </a:r>
                      <a:r>
                        <a:rPr lang="fr-FR" sz="1200" b="0" kern="1200" dirty="0">
                          <a:solidFill>
                            <a:schemeClr val="tx1"/>
                          </a:solidFill>
                          <a:effectLst/>
                          <a:latin typeface="+mn-lt"/>
                          <a:ea typeface="+mn-ea"/>
                          <a:cs typeface="+mn-cs"/>
                          <a:hlinkClick r:id="rId5">
                            <a:extLst>
                              <a:ext uri="{A12FA001-AC4F-418D-AE19-62706E023703}">
                                <ahyp:hlinkClr xmlns:ahyp="http://schemas.microsoft.com/office/drawing/2018/hyperlinkcolor" val="tx"/>
                              </a:ext>
                            </a:extLst>
                          </a:hlinkClick>
                        </a:rPr>
                        <a:t>https://github.com/tensorflow/tfjs-models/tree/master/coco-ssd</a:t>
                      </a:r>
                      <a:endParaRPr lang="fr-FR" sz="1200" b="0" kern="1200" dirty="0">
                        <a:solidFill>
                          <a:schemeClr val="tx1"/>
                        </a:solidFill>
                        <a:effectLst/>
                        <a:latin typeface="+mn-lt"/>
                        <a:ea typeface="+mn-ea"/>
                        <a:cs typeface="+mn-cs"/>
                      </a:endParaRP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Vous devez donc :</a:t>
                      </a:r>
                    </a:p>
                    <a:p>
                      <a:endParaRPr lang="fr-FR" sz="1200" b="0" kern="1200" dirty="0">
                        <a:solidFill>
                          <a:schemeClr val="tx1"/>
                        </a:solidFill>
                        <a:effectLst/>
                        <a:latin typeface="+mn-lt"/>
                        <a:ea typeface="+mn-ea"/>
                        <a:cs typeface="+mn-cs"/>
                      </a:endParaRPr>
                    </a:p>
                    <a:p>
                      <a:pPr marL="171450" indent="-171450">
                        <a:buFont typeface="Arial" panose="020B0604020202020204" pitchFamily="34" charset="0"/>
                        <a:buChar char="•"/>
                      </a:pPr>
                      <a:r>
                        <a:rPr lang="fr-FR" sz="1200" b="0" kern="1200" dirty="0">
                          <a:solidFill>
                            <a:schemeClr val="tx1"/>
                          </a:solidFill>
                          <a:effectLst/>
                          <a:latin typeface="+mn-lt"/>
                          <a:ea typeface="+mn-ea"/>
                          <a:cs typeface="+mn-cs"/>
                        </a:rPr>
                        <a:t>Vérifier les classes disponibles.</a:t>
                      </a:r>
                    </a:p>
                    <a:p>
                      <a:pPr marL="171450" indent="-171450">
                        <a:buFont typeface="Arial" panose="020B0604020202020204" pitchFamily="34" charset="0"/>
                        <a:buChar char="•"/>
                      </a:pPr>
                      <a:r>
                        <a:rPr lang="fr-FR" sz="1200" b="0" kern="1200" dirty="0">
                          <a:solidFill>
                            <a:schemeClr val="tx1"/>
                          </a:solidFill>
                          <a:effectLst/>
                          <a:latin typeface="+mn-lt"/>
                          <a:ea typeface="+mn-ea"/>
                          <a:cs typeface="+mn-cs"/>
                        </a:rPr>
                        <a:t>Afficher uniquement les détections réellement produites.</a:t>
                      </a:r>
                    </a:p>
                    <a:p>
                      <a:pPr marL="171450" indent="-171450">
                        <a:buFont typeface="Arial" panose="020B0604020202020204" pitchFamily="34" charset="0"/>
                        <a:buChar char="•"/>
                      </a:pPr>
                      <a:r>
                        <a:rPr lang="fr-FR" sz="1200" b="0" kern="1200" dirty="0">
                          <a:solidFill>
                            <a:schemeClr val="tx1"/>
                          </a:solidFill>
                          <a:effectLst/>
                          <a:latin typeface="+mn-lt"/>
                          <a:ea typeface="+mn-ea"/>
                          <a:cs typeface="+mn-cs"/>
                        </a:rPr>
                        <a:t>Indiquer les catégories non prises en charge.</a:t>
                      </a:r>
                    </a:p>
                    <a:p>
                      <a:pPr marL="171450" indent="-171450">
                        <a:buFont typeface="Arial" panose="020B0604020202020204" pitchFamily="34" charset="0"/>
                        <a:buChar char="•"/>
                      </a:pPr>
                      <a:r>
                        <a:rPr lang="fr-FR" sz="1200" b="0" kern="1200" dirty="0">
                          <a:solidFill>
                            <a:schemeClr val="tx1"/>
                          </a:solidFill>
                          <a:effectLst/>
                          <a:latin typeface="+mn-lt"/>
                          <a:ea typeface="+mn-ea"/>
                          <a:cs typeface="+mn-cs"/>
                        </a:rPr>
                        <a:t>Ne jamais inventer une détection.</a:t>
                      </a:r>
                    </a:p>
                    <a:p>
                      <a:pPr fontAlgn="t">
                        <a:lnSpc>
                          <a:spcPts val="1500"/>
                        </a:lnSpc>
                        <a:buFont typeface="Arial" panose="020B0604020202020204" pitchFamily="34" charset="0"/>
                        <a:buNone/>
                      </a:pPr>
                      <a:endParaRPr lang="fr-FR" sz="1200" b="0" dirty="0">
                        <a:effectLst/>
                      </a:endParaRPr>
                    </a:p>
                    <a:p>
                      <a:pPr fontAlgn="t">
                        <a:lnSpc>
                          <a:spcPts val="1500"/>
                        </a:lnSpc>
                        <a:buFont typeface="Arial" panose="020B0604020202020204" pitchFamily="34" charset="0"/>
                        <a:buNone/>
                      </a:pPr>
                      <a:endParaRPr lang="fr-FR" sz="1200" b="0" dirty="0">
                        <a:effectLst/>
                      </a:endParaRPr>
                    </a:p>
                    <a:p>
                      <a:pPr fontAlgn="t">
                        <a:lnSpc>
                          <a:spcPts val="1500"/>
                        </a:lnSpc>
                        <a:buFont typeface="Arial" panose="020B0604020202020204" pitchFamily="34" charset="0"/>
                        <a:buNone/>
                      </a:pPr>
                      <a:endParaRPr lang="fr-FR" sz="1200" b="0" dirty="0">
                        <a:effectLst/>
                      </a:endParaRPr>
                    </a:p>
                    <a:p>
                      <a:pPr marL="171450" indent="-171450" algn="l" defTabSz="914400" rtl="0" eaLnBrk="1" fontAlgn="t" latinLnBrk="0" hangingPunct="1">
                        <a:lnSpc>
                          <a:spcPts val="1500"/>
                        </a:lnSpc>
                        <a:buFont typeface="Wingdings" panose="05000000000000000000" pitchFamily="2" charset="2"/>
                        <a:buChar char="q"/>
                      </a:pPr>
                      <a:r>
                        <a:rPr lang="fr-FR" sz="1200" b="1" dirty="0">
                          <a:solidFill>
                            <a:schemeClr val="tx2">
                              <a:lumMod val="50000"/>
                              <a:lumOff val="50000"/>
                            </a:schemeClr>
                          </a:solidFill>
                          <a:effectLst/>
                        </a:rPr>
                        <a:t>Important :</a:t>
                      </a:r>
                      <a:endParaRPr lang="fr-FR" sz="1200" b="0" dirty="0">
                        <a:solidFill>
                          <a:schemeClr val="tx2">
                            <a:lumMod val="50000"/>
                            <a:lumOff val="50000"/>
                          </a:schemeClr>
                        </a:solidFill>
                        <a:effectLst/>
                      </a:endParaRPr>
                    </a:p>
                    <a:p>
                      <a:pPr marL="0" indent="0" algn="l" defTabSz="914400" rtl="0" eaLnBrk="1" fontAlgn="t" latinLnBrk="0" hangingPunct="1">
                        <a:lnSpc>
                          <a:spcPts val="1500"/>
                        </a:lnSpc>
                        <a:buFont typeface="Wingdings" panose="05000000000000000000" pitchFamily="2" charset="2"/>
                        <a:buNone/>
                      </a:pPr>
                      <a:endParaRPr lang="fr-FR" sz="1200" b="0" kern="1200" dirty="0">
                        <a:solidFill>
                          <a:schemeClr val="tx2">
                            <a:lumMod val="50000"/>
                            <a:lumOff val="50000"/>
                          </a:schemeClr>
                        </a:solidFill>
                        <a:effectLst/>
                        <a:latin typeface="+mn-lt"/>
                        <a:ea typeface="+mn-ea"/>
                        <a:cs typeface="+mn-cs"/>
                      </a:endParaRPr>
                    </a:p>
                    <a:p>
                      <a:pPr marL="0" indent="0" algn="l" defTabSz="914400" rtl="0" eaLnBrk="1" fontAlgn="t" latinLnBrk="0" hangingPunct="1">
                        <a:lnSpc>
                          <a:spcPts val="1500"/>
                        </a:lnSpc>
                        <a:buFont typeface="Wingdings" panose="05000000000000000000" pitchFamily="2" charset="2"/>
                        <a:buNone/>
                      </a:pPr>
                      <a:r>
                        <a:rPr lang="fr-FR" sz="1200" b="0" kern="1200" dirty="0">
                          <a:solidFill>
                            <a:schemeClr val="tx1"/>
                          </a:solidFill>
                          <a:effectLst/>
                          <a:latin typeface="+mn-lt"/>
                          <a:ea typeface="+mn-ea"/>
                          <a:cs typeface="+mn-cs"/>
                        </a:rPr>
                        <a:t>Le système doit analyser les objets visibles, afficher les résultats et produire un compte rendu d’audit.</a:t>
                      </a:r>
                    </a:p>
                    <a:p>
                      <a:pPr marL="0" indent="0" algn="l" defTabSz="914400" rtl="0" eaLnBrk="1" fontAlgn="t" latinLnBrk="0" hangingPunct="1">
                        <a:lnSpc>
                          <a:spcPts val="1500"/>
                        </a:lnSpc>
                        <a:buFont typeface="Wingdings" panose="05000000000000000000" pitchFamily="2" charset="2"/>
                        <a:buNone/>
                      </a:pPr>
                      <a:endParaRPr lang="fr-FR" sz="1200" b="0" kern="1200" dirty="0">
                        <a:solidFill>
                          <a:schemeClr val="tx1"/>
                        </a:solidFill>
                        <a:effectLst/>
                        <a:latin typeface="+mn-lt"/>
                        <a:ea typeface="+mn-ea"/>
                        <a:cs typeface="+mn-cs"/>
                      </a:endParaRPr>
                    </a:p>
                    <a:p>
                      <a:pPr marL="0" indent="0" algn="l" defTabSz="914400" rtl="0" eaLnBrk="1" fontAlgn="t" latinLnBrk="0" hangingPunct="1">
                        <a:lnSpc>
                          <a:spcPts val="1500"/>
                        </a:lnSpc>
                        <a:buFont typeface="Wingdings" panose="05000000000000000000" pitchFamily="2" charset="2"/>
                        <a:buNone/>
                      </a:pPr>
                      <a:r>
                        <a:rPr lang="fr-FR" sz="1200" b="0" kern="1200" dirty="0">
                          <a:solidFill>
                            <a:schemeClr val="tx1"/>
                          </a:solidFill>
                          <a:effectLst/>
                          <a:latin typeface="+mn-lt"/>
                          <a:ea typeface="+mn-ea"/>
                          <a:cs typeface="+mn-cs"/>
                        </a:rPr>
                        <a:t>Exclusion obligatoire : aucune analyse, identification ou reconnaissance des personnes. La caméra doit être cadrée sur les équipements et le mobilier. Si une personne entre dans le champ, elle ne doit pas faire l’objet d’une analyse.</a:t>
                      </a:r>
                    </a:p>
                    <a:p>
                      <a:pPr fontAlgn="t">
                        <a:lnSpc>
                          <a:spcPts val="1500"/>
                        </a:lnSpc>
                        <a:buNone/>
                      </a:pPr>
                      <a:endParaRPr lang="fr-FR" sz="1200" b="0" i="0" dirty="0">
                        <a:effectLst/>
                        <a:latin typeface="Segoe UI" panose="020B0502040204020203" pitchFamily="34" charset="0"/>
                      </a:endParaRPr>
                    </a:p>
                  </a:txBody>
                  <a:tcPr/>
                </a:tc>
                <a:extLst>
                  <a:ext uri="{0D108BD9-81ED-4DB2-BD59-A6C34878D82A}">
                    <a16:rowId xmlns:a16="http://schemas.microsoft.com/office/drawing/2014/main" val="2728248166"/>
                  </a:ext>
                </a:extLst>
              </a:tr>
            </a:tbl>
          </a:graphicData>
        </a:graphic>
      </p:graphicFrame>
      <p:cxnSp>
        <p:nvCxnSpPr>
          <p:cNvPr id="15" name="Connecteur droit 14">
            <a:extLst>
              <a:ext uri="{FF2B5EF4-FFF2-40B4-BE49-F238E27FC236}">
                <a16:creationId xmlns:a16="http://schemas.microsoft.com/office/drawing/2014/main" id="{779CB384-164D-D1E2-98FE-47E20DD154BA}"/>
              </a:ext>
            </a:extLst>
          </p:cNvPr>
          <p:cNvCxnSpPr>
            <a:cxnSpLocks/>
          </p:cNvCxnSpPr>
          <p:nvPr/>
        </p:nvCxnSpPr>
        <p:spPr>
          <a:xfrm flipH="1">
            <a:off x="6096000" y="1214329"/>
            <a:ext cx="4325" cy="5038216"/>
          </a:xfrm>
          <a:prstGeom prst="line">
            <a:avLst/>
          </a:prstGeom>
        </p:spPr>
        <p:style>
          <a:lnRef idx="2">
            <a:schemeClr val="accent1"/>
          </a:lnRef>
          <a:fillRef idx="0">
            <a:schemeClr val="accent1"/>
          </a:fillRef>
          <a:effectRef idx="1">
            <a:schemeClr val="accent1"/>
          </a:effectRef>
          <a:fontRef idx="minor">
            <a:schemeClr val="tx1"/>
          </a:fontRef>
        </p:style>
      </p:cxnSp>
      <p:sp>
        <p:nvSpPr>
          <p:cNvPr id="2" name="ZoneTexte 1">
            <a:extLst>
              <a:ext uri="{FF2B5EF4-FFF2-40B4-BE49-F238E27FC236}">
                <a16:creationId xmlns:a16="http://schemas.microsoft.com/office/drawing/2014/main" id="{DD746539-B748-5685-8B77-F10E4DB7CC9D}"/>
              </a:ext>
            </a:extLst>
          </p:cNvPr>
          <p:cNvSpPr txBox="1"/>
          <p:nvPr/>
        </p:nvSpPr>
        <p:spPr>
          <a:xfrm>
            <a:off x="0" y="6581001"/>
            <a:ext cx="931665" cy="276999"/>
          </a:xfrm>
          <a:prstGeom prst="rect">
            <a:avLst/>
          </a:prstGeom>
          <a:noFill/>
        </p:spPr>
        <p:txBody>
          <a:bodyPr wrap="none" rtlCol="0">
            <a:spAutoFit/>
          </a:bodyPr>
          <a:lstStyle/>
          <a:p>
            <a:r>
              <a:rPr lang="fr-FR" sz="1200" dirty="0"/>
              <a:t>16/10</a:t>
            </a:r>
            <a:r>
              <a:rPr lang="fr-FR" sz="1200" noProof="0" dirty="0"/>
              <a:t>/2026</a:t>
            </a:r>
          </a:p>
        </p:txBody>
      </p:sp>
    </p:spTree>
    <p:extLst>
      <p:ext uri="{BB962C8B-B14F-4D97-AF65-F5344CB8AC3E}">
        <p14:creationId xmlns:p14="http://schemas.microsoft.com/office/powerpoint/2010/main" val="614284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E7166-F857-01CD-08D2-BA08DDBB98E7}"/>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2C57124E-3E7C-2953-9229-F500197378B0}"/>
              </a:ext>
            </a:extLst>
          </p:cNvPr>
          <p:cNvPicPr>
            <a:picLocks noChangeAspect="1"/>
          </p:cNvPicPr>
          <p:nvPr/>
        </p:nvPicPr>
        <p:blipFill>
          <a:blip r:embed="rId3"/>
          <a:stretch>
            <a:fillRect/>
          </a:stretch>
        </p:blipFill>
        <p:spPr>
          <a:xfrm>
            <a:off x="11137635" y="123382"/>
            <a:ext cx="929721" cy="693480"/>
          </a:xfrm>
          <a:prstGeom prst="rect">
            <a:avLst/>
          </a:prstGeom>
        </p:spPr>
      </p:pic>
      <p:pic>
        <p:nvPicPr>
          <p:cNvPr id="2050" name="Picture 2" descr="Logo de DataClass AI">
            <a:extLst>
              <a:ext uri="{FF2B5EF4-FFF2-40B4-BE49-F238E27FC236}">
                <a16:creationId xmlns:a16="http://schemas.microsoft.com/office/drawing/2014/main" id="{518C1B9B-7394-0FB5-DEC6-6E312C5B87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644" y="45183"/>
            <a:ext cx="952500" cy="952500"/>
          </a:xfrm>
          <a:prstGeom prst="rect">
            <a:avLst/>
          </a:prstGeom>
          <a:noFill/>
          <a:extLst>
            <a:ext uri="{909E8E84-426E-40DD-AFC4-6F175D3DCCD1}">
              <a14:hiddenFill xmlns:a14="http://schemas.microsoft.com/office/drawing/2010/main">
                <a:solidFill>
                  <a:srgbClr val="FFFFFF"/>
                </a:solidFill>
              </a14:hiddenFill>
            </a:ext>
          </a:extLst>
        </p:spPr>
      </p:pic>
      <p:sp>
        <p:nvSpPr>
          <p:cNvPr id="14" name="ZoneTexte 13">
            <a:extLst>
              <a:ext uri="{FF2B5EF4-FFF2-40B4-BE49-F238E27FC236}">
                <a16:creationId xmlns:a16="http://schemas.microsoft.com/office/drawing/2014/main" id="{3027A76A-FFDB-CEE5-FC42-E32DDDF619FB}"/>
              </a:ext>
            </a:extLst>
          </p:cNvPr>
          <p:cNvSpPr txBox="1"/>
          <p:nvPr/>
        </p:nvSpPr>
        <p:spPr>
          <a:xfrm>
            <a:off x="5556039" y="6475452"/>
            <a:ext cx="266420" cy="276999"/>
          </a:xfrm>
          <a:prstGeom prst="rect">
            <a:avLst/>
          </a:prstGeom>
          <a:noFill/>
        </p:spPr>
        <p:txBody>
          <a:bodyPr wrap="none" rtlCol="0">
            <a:spAutoFit/>
          </a:bodyPr>
          <a:lstStyle/>
          <a:p>
            <a:r>
              <a:rPr lang="fr-FR" sz="1200" noProof="0" dirty="0"/>
              <a:t>3</a:t>
            </a:r>
          </a:p>
        </p:txBody>
      </p:sp>
      <p:sp>
        <p:nvSpPr>
          <p:cNvPr id="11" name="ZoneTexte 10">
            <a:extLst>
              <a:ext uri="{FF2B5EF4-FFF2-40B4-BE49-F238E27FC236}">
                <a16:creationId xmlns:a16="http://schemas.microsoft.com/office/drawing/2014/main" id="{3BA55DD6-B5EA-6DFA-13B8-50916DDB9787}"/>
              </a:ext>
            </a:extLst>
          </p:cNvPr>
          <p:cNvSpPr txBox="1"/>
          <p:nvPr/>
        </p:nvSpPr>
        <p:spPr>
          <a:xfrm>
            <a:off x="7567127" y="1483567"/>
            <a:ext cx="184731" cy="369332"/>
          </a:xfrm>
          <a:prstGeom prst="rect">
            <a:avLst/>
          </a:prstGeom>
          <a:noFill/>
        </p:spPr>
        <p:txBody>
          <a:bodyPr wrap="none" rtlCol="0">
            <a:spAutoFit/>
          </a:bodyPr>
          <a:lstStyle/>
          <a:p>
            <a:endParaRPr lang="fr-FR" dirty="0"/>
          </a:p>
        </p:txBody>
      </p:sp>
      <p:graphicFrame>
        <p:nvGraphicFramePr>
          <p:cNvPr id="2" name="Tableau 1">
            <a:extLst>
              <a:ext uri="{FF2B5EF4-FFF2-40B4-BE49-F238E27FC236}">
                <a16:creationId xmlns:a16="http://schemas.microsoft.com/office/drawing/2014/main" id="{DC319DDF-75ED-BA74-CAD5-B184075BCCB9}"/>
              </a:ext>
            </a:extLst>
          </p:cNvPr>
          <p:cNvGraphicFramePr>
            <a:graphicFrameLocks noGrp="1"/>
          </p:cNvGraphicFramePr>
          <p:nvPr>
            <p:extLst>
              <p:ext uri="{D42A27DB-BD31-4B8C-83A1-F6EECF244321}">
                <p14:modId xmlns:p14="http://schemas.microsoft.com/office/powerpoint/2010/main" val="2169522505"/>
              </p:ext>
            </p:extLst>
          </p:nvPr>
        </p:nvGraphicFramePr>
        <p:xfrm>
          <a:off x="230434" y="1338084"/>
          <a:ext cx="5524220" cy="4274820"/>
        </p:xfrm>
        <a:graphic>
          <a:graphicData uri="http://schemas.openxmlformats.org/drawingml/2006/table">
            <a:tbl>
              <a:tblPr>
                <a:tableStyleId>{2D5ABB26-0587-4C30-8999-92F81FD0307C}</a:tableStyleId>
              </a:tblPr>
              <a:tblGrid>
                <a:gridCol w="5524220">
                  <a:extLst>
                    <a:ext uri="{9D8B030D-6E8A-4147-A177-3AD203B41FA5}">
                      <a16:colId xmlns:a16="http://schemas.microsoft.com/office/drawing/2014/main" val="2196271752"/>
                    </a:ext>
                  </a:extLst>
                </a:gridCol>
              </a:tblGrid>
              <a:tr h="0">
                <a:tc>
                  <a:txBody>
                    <a:bodyPr/>
                    <a:lstStyle/>
                    <a:p>
                      <a:pPr marL="0" indent="0" algn="l" defTabSz="914400" rtl="0" eaLnBrk="1" fontAlgn="t" latinLnBrk="0" hangingPunct="1">
                        <a:lnSpc>
                          <a:spcPts val="1500"/>
                        </a:lnSpc>
                        <a:buFont typeface="Wingdings" panose="05000000000000000000" pitchFamily="2" charset="2"/>
                        <a:buNone/>
                      </a:pPr>
                      <a:r>
                        <a:rPr lang="fr-FR" sz="1200" b="1" kern="1200" dirty="0">
                          <a:solidFill>
                            <a:schemeClr val="tx2">
                              <a:lumMod val="50000"/>
                              <a:lumOff val="50000"/>
                            </a:schemeClr>
                          </a:solidFill>
                          <a:effectLst/>
                          <a:latin typeface="+mn-lt"/>
                          <a:ea typeface="+mn-ea"/>
                          <a:cs typeface="+mn-cs"/>
                        </a:rPr>
                        <a:t>4. Fonctionnalités à développer</a:t>
                      </a:r>
                    </a:p>
                    <a:p>
                      <a:pPr marL="0" indent="0" algn="l" defTabSz="914400" rtl="0" eaLnBrk="1" fontAlgn="t" latinLnBrk="0" hangingPunct="1">
                        <a:lnSpc>
                          <a:spcPts val="1500"/>
                        </a:lnSpc>
                        <a:buFont typeface="Wingdings" panose="05000000000000000000" pitchFamily="2" charset="2"/>
                        <a:buNone/>
                      </a:pPr>
                      <a:r>
                        <a:rPr lang="fr-FR" sz="1200" b="1" kern="1200" dirty="0">
                          <a:solidFill>
                            <a:schemeClr val="tx2">
                              <a:lumMod val="50000"/>
                              <a:lumOff val="50000"/>
                            </a:schemeClr>
                          </a:solidFill>
                          <a:effectLst/>
                          <a:latin typeface="+mn-lt"/>
                          <a:ea typeface="+mn-ea"/>
                          <a:cs typeface="+mn-cs"/>
                        </a:rPr>
                        <a:t>Fonctionnalité A — Interface utilisateur</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Créer une application web comportant :</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Une page d’accueil présentant le projet.</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Un bouton pour démarrer la caméra.</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Un bouton pour arrêter la caméra.</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Une zone d’affichage de la caméra.</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Un espace de résultats.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Un tableau de bord synthétique.</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Un accès au rapport d’audit.</a:t>
                      </a:r>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pPr marL="171450" indent="-171450" algn="l" defTabSz="914400" rtl="0" eaLnBrk="1" fontAlgn="t" latinLnBrk="0" hangingPunct="1">
                        <a:lnSpc>
                          <a:spcPts val="1500"/>
                        </a:lnSpc>
                        <a:buFont typeface="Wingdings" panose="05000000000000000000" pitchFamily="2" charset="2"/>
                        <a:buChar char="q"/>
                      </a:pPr>
                      <a:endParaRPr lang="fr-FR" sz="1200" b="0" kern="1200" dirty="0">
                        <a:solidFill>
                          <a:schemeClr val="tx1"/>
                        </a:solidFill>
                        <a:effectLst/>
                        <a:latin typeface="+mn-lt"/>
                        <a:ea typeface="+mn-ea"/>
                        <a:cs typeface="+mn-cs"/>
                      </a:endParaRPr>
                    </a:p>
                    <a:p>
                      <a:r>
                        <a:rPr lang="fr-FR" sz="1200" b="1" kern="1200" dirty="0">
                          <a:solidFill>
                            <a:schemeClr val="tx2">
                              <a:lumMod val="50000"/>
                              <a:lumOff val="50000"/>
                            </a:schemeClr>
                          </a:solidFill>
                          <a:effectLst/>
                          <a:latin typeface="+mn-lt"/>
                          <a:ea typeface="+mn-ea"/>
                          <a:cs typeface="+mn-cs"/>
                        </a:rPr>
                        <a:t>Fonctionnalité B — Détection d’objets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L’application doit permettre d’analyser une image prise avec la webcam ou une image de test fournie.</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Elle doit afficher :</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La catégorie de chaque objet détecté.</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Un cadre autour de l’objet lorsque le modèle le permet.</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 score de confiance.</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 nombre d’objets détectés par catégorie.</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Un seuil de confiance doit être paramétrable.</a:t>
                      </a:r>
                    </a:p>
                    <a:p>
                      <a:pPr marL="0" indent="0" algn="l" defTabSz="914400" rtl="0" eaLnBrk="1" fontAlgn="t" latinLnBrk="0" hangingPunct="1">
                        <a:lnSpc>
                          <a:spcPts val="1500"/>
                        </a:lnSpc>
                        <a:buFont typeface="Wingdings" panose="05000000000000000000" pitchFamily="2" charset="2"/>
                        <a:buNone/>
                      </a:pPr>
                      <a:endParaRPr lang="fr-FR" sz="1200" b="0" kern="1200" dirty="0">
                        <a:solidFill>
                          <a:schemeClr val="tx1"/>
                        </a:solidFill>
                        <a:effectLst/>
                        <a:latin typeface="+mn-lt"/>
                        <a:ea typeface="+mn-ea"/>
                        <a:cs typeface="+mn-cs"/>
                      </a:endParaRPr>
                    </a:p>
                  </a:txBody>
                  <a:tcPr/>
                </a:tc>
                <a:extLst>
                  <a:ext uri="{0D108BD9-81ED-4DB2-BD59-A6C34878D82A}">
                    <a16:rowId xmlns:a16="http://schemas.microsoft.com/office/drawing/2014/main" val="306938728"/>
                  </a:ext>
                </a:extLst>
              </a:tr>
            </a:tbl>
          </a:graphicData>
        </a:graphic>
      </p:graphicFrame>
      <p:graphicFrame>
        <p:nvGraphicFramePr>
          <p:cNvPr id="4" name="Tableau 3">
            <a:extLst>
              <a:ext uri="{FF2B5EF4-FFF2-40B4-BE49-F238E27FC236}">
                <a16:creationId xmlns:a16="http://schemas.microsoft.com/office/drawing/2014/main" id="{DA9CC82A-A7D5-9190-EB60-D3F35A56D9F7}"/>
              </a:ext>
            </a:extLst>
          </p:cNvPr>
          <p:cNvGraphicFramePr>
            <a:graphicFrameLocks noGrp="1"/>
          </p:cNvGraphicFramePr>
          <p:nvPr>
            <p:extLst>
              <p:ext uri="{D42A27DB-BD31-4B8C-83A1-F6EECF244321}">
                <p14:modId xmlns:p14="http://schemas.microsoft.com/office/powerpoint/2010/main" val="2966851597"/>
              </p:ext>
            </p:extLst>
          </p:nvPr>
        </p:nvGraphicFramePr>
        <p:xfrm>
          <a:off x="6184144" y="1242060"/>
          <a:ext cx="5524220" cy="5044440"/>
        </p:xfrm>
        <a:graphic>
          <a:graphicData uri="http://schemas.openxmlformats.org/drawingml/2006/table">
            <a:tbl>
              <a:tblPr>
                <a:tableStyleId>{2D5ABB26-0587-4C30-8999-92F81FD0307C}</a:tableStyleId>
              </a:tblPr>
              <a:tblGrid>
                <a:gridCol w="5524220">
                  <a:extLst>
                    <a:ext uri="{9D8B030D-6E8A-4147-A177-3AD203B41FA5}">
                      <a16:colId xmlns:a16="http://schemas.microsoft.com/office/drawing/2014/main" val="499463755"/>
                    </a:ext>
                  </a:extLst>
                </a:gridCol>
              </a:tblGrid>
              <a:tr h="0">
                <a:tc>
                  <a:txBody>
                    <a:bodyPr/>
                    <a:lstStyle/>
                    <a:p>
                      <a:pPr marL="0" indent="0" algn="l" defTabSz="914400" rtl="0" eaLnBrk="1" fontAlgn="t" latinLnBrk="0" hangingPunct="1">
                        <a:lnSpc>
                          <a:spcPts val="1500"/>
                        </a:lnSpc>
                        <a:buFont typeface="Wingdings" panose="05000000000000000000" pitchFamily="2" charset="2"/>
                        <a:buNone/>
                      </a:pPr>
                      <a:r>
                        <a:rPr lang="fr-FR" sz="1200" b="1" kern="1200" dirty="0">
                          <a:solidFill>
                            <a:schemeClr val="tx2">
                              <a:lumMod val="50000"/>
                              <a:lumOff val="50000"/>
                            </a:schemeClr>
                          </a:solidFill>
                          <a:effectLst/>
                          <a:latin typeface="+mn-lt"/>
                          <a:ea typeface="+mn-ea"/>
                          <a:cs typeface="+mn-cs"/>
                        </a:rPr>
                        <a:t>Fonctionnalité C — Audit de la salle</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Définir une configuration théorique modifiable.</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Exemple de configuration de test :</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10 tables.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20 chaises.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1 tableau.</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5 ordinateurs portables.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Ces valeurs sont fictives et servent uniquement à la démonstration.</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Comparer les quantités attendues aux quantités détectées pour les catégories prises en charge.</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L’application doit distinguer :</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 nombre attendu.</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 nombre détecté.</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L’écart observé.</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 statut de vérification.</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Un objet non détecté ne doit pas automatiquement être considéré comme absent : il peut être masqué, mal cadré ou non reconnu par le modèle.</a:t>
                      </a:r>
                    </a:p>
                    <a:p>
                      <a:pPr marL="0" indent="0" algn="l" defTabSz="914400" rtl="0" eaLnBrk="1" fontAlgn="t" latinLnBrk="0" hangingPunct="1">
                        <a:lnSpc>
                          <a:spcPts val="1500"/>
                        </a:lnSpc>
                        <a:buFont typeface="Wingdings" panose="05000000000000000000" pitchFamily="2" charset="2"/>
                        <a:buNone/>
                      </a:pPr>
                      <a:endParaRPr lang="fr-FR" sz="1200" b="0" kern="1200" dirty="0">
                        <a:solidFill>
                          <a:schemeClr val="tx1"/>
                        </a:solidFill>
                        <a:effectLst/>
                        <a:latin typeface="+mn-lt"/>
                        <a:ea typeface="+mn-ea"/>
                        <a:cs typeface="+mn-cs"/>
                      </a:endParaRPr>
                    </a:p>
                    <a:p>
                      <a:pPr marL="0" indent="0" algn="l" defTabSz="914400" rtl="0" eaLnBrk="1" fontAlgn="t" latinLnBrk="0" hangingPunct="1">
                        <a:lnSpc>
                          <a:spcPts val="1500"/>
                        </a:lnSpc>
                        <a:buFont typeface="Wingdings" panose="05000000000000000000" pitchFamily="2" charset="2"/>
                        <a:buNone/>
                      </a:pPr>
                      <a:r>
                        <a:rPr lang="fr-FR" sz="1200" b="1" kern="1200" dirty="0">
                          <a:solidFill>
                            <a:schemeClr val="tx2">
                              <a:lumMod val="50000"/>
                              <a:lumOff val="50000"/>
                            </a:schemeClr>
                          </a:solidFill>
                          <a:effectLst/>
                          <a:latin typeface="+mn-lt"/>
                          <a:ea typeface="+mn-ea"/>
                          <a:cs typeface="+mn-cs"/>
                        </a:rPr>
                        <a:t>Fonctionnalité D — Tableau de bord</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Présenter au minimum :</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 nombre total d’objets détectés.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 nombre de catégories reconnues.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 nombre de règles vérifiables.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 nombre d’écarts observés.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Un statut global de l’audit.</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Les indicateurs doivent être calculés à partir des résultats réels de l’application.</a:t>
                      </a:r>
                    </a:p>
                  </a:txBody>
                  <a:tcPr/>
                </a:tc>
                <a:extLst>
                  <a:ext uri="{0D108BD9-81ED-4DB2-BD59-A6C34878D82A}">
                    <a16:rowId xmlns:a16="http://schemas.microsoft.com/office/drawing/2014/main" val="1493628909"/>
                  </a:ext>
                </a:extLst>
              </a:tr>
            </a:tbl>
          </a:graphicData>
        </a:graphic>
      </p:graphicFrame>
      <p:cxnSp>
        <p:nvCxnSpPr>
          <p:cNvPr id="5" name="Connecteur droit 4">
            <a:extLst>
              <a:ext uri="{FF2B5EF4-FFF2-40B4-BE49-F238E27FC236}">
                <a16:creationId xmlns:a16="http://schemas.microsoft.com/office/drawing/2014/main" id="{115C6870-8729-79A6-0FF4-5071D2478E45}"/>
              </a:ext>
            </a:extLst>
          </p:cNvPr>
          <p:cNvCxnSpPr>
            <a:cxnSpLocks/>
          </p:cNvCxnSpPr>
          <p:nvPr/>
        </p:nvCxnSpPr>
        <p:spPr>
          <a:xfrm>
            <a:off x="5930941" y="997683"/>
            <a:ext cx="76916" cy="5477769"/>
          </a:xfrm>
          <a:prstGeom prst="line">
            <a:avLst/>
          </a:prstGeom>
        </p:spPr>
        <p:style>
          <a:lnRef idx="2">
            <a:schemeClr val="accent1"/>
          </a:lnRef>
          <a:fillRef idx="0">
            <a:schemeClr val="accent1"/>
          </a:fillRef>
          <a:effectRef idx="1">
            <a:schemeClr val="accent1"/>
          </a:effectRef>
          <a:fontRef idx="minor">
            <a:schemeClr val="tx1"/>
          </a:fontRef>
        </p:style>
      </p:cxnSp>
      <p:sp>
        <p:nvSpPr>
          <p:cNvPr id="6" name="ZoneTexte 5">
            <a:extLst>
              <a:ext uri="{FF2B5EF4-FFF2-40B4-BE49-F238E27FC236}">
                <a16:creationId xmlns:a16="http://schemas.microsoft.com/office/drawing/2014/main" id="{BEA80106-FA04-4A1F-D69C-1F89ABBC924F}"/>
              </a:ext>
            </a:extLst>
          </p:cNvPr>
          <p:cNvSpPr txBox="1"/>
          <p:nvPr/>
        </p:nvSpPr>
        <p:spPr>
          <a:xfrm>
            <a:off x="4086198" y="129459"/>
            <a:ext cx="4244368" cy="738664"/>
          </a:xfrm>
          <a:prstGeom prst="rect">
            <a:avLst/>
          </a:prstGeom>
          <a:noFill/>
        </p:spPr>
        <p:txBody>
          <a:bodyPr wrap="none" rtlCol="0">
            <a:spAutoFit/>
          </a:bodyPr>
          <a:lstStyle/>
          <a:p>
            <a:pPr algn="ctr"/>
            <a:r>
              <a:rPr lang="fr-FR" sz="2400" b="1" noProof="0" dirty="0"/>
              <a:t>🧠 EXAMEN FINAL EPITA </a:t>
            </a:r>
            <a:br>
              <a:rPr lang="fr-FR" sz="2400" b="1" noProof="0" dirty="0"/>
            </a:br>
            <a:r>
              <a:rPr lang="fr-FR" b="1" noProof="0" dirty="0"/>
              <a:t>IA FOR Managers – EPITA Smart Classroom</a:t>
            </a:r>
          </a:p>
        </p:txBody>
      </p:sp>
      <p:sp>
        <p:nvSpPr>
          <p:cNvPr id="7" name="ZoneTexte 6">
            <a:extLst>
              <a:ext uri="{FF2B5EF4-FFF2-40B4-BE49-F238E27FC236}">
                <a16:creationId xmlns:a16="http://schemas.microsoft.com/office/drawing/2014/main" id="{DC6DD087-ACE0-F58D-3641-0B527265B1A1}"/>
              </a:ext>
            </a:extLst>
          </p:cNvPr>
          <p:cNvSpPr txBox="1"/>
          <p:nvPr/>
        </p:nvSpPr>
        <p:spPr>
          <a:xfrm>
            <a:off x="0" y="6581001"/>
            <a:ext cx="931665" cy="276999"/>
          </a:xfrm>
          <a:prstGeom prst="rect">
            <a:avLst/>
          </a:prstGeom>
          <a:noFill/>
        </p:spPr>
        <p:txBody>
          <a:bodyPr wrap="none" rtlCol="0">
            <a:spAutoFit/>
          </a:bodyPr>
          <a:lstStyle/>
          <a:p>
            <a:r>
              <a:rPr lang="fr-FR" sz="1200" dirty="0"/>
              <a:t>16/10</a:t>
            </a:r>
            <a:r>
              <a:rPr lang="fr-FR" sz="1200" noProof="0" dirty="0"/>
              <a:t>/2026</a:t>
            </a:r>
          </a:p>
        </p:txBody>
      </p:sp>
    </p:spTree>
    <p:extLst>
      <p:ext uri="{BB962C8B-B14F-4D97-AF65-F5344CB8AC3E}">
        <p14:creationId xmlns:p14="http://schemas.microsoft.com/office/powerpoint/2010/main" val="3326608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73866-02B2-0B58-FE2C-FC88BCDFABC1}"/>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58AA0DE9-A927-4E16-BCAF-EC2DD66E0012}"/>
              </a:ext>
            </a:extLst>
          </p:cNvPr>
          <p:cNvPicPr>
            <a:picLocks noChangeAspect="1"/>
          </p:cNvPicPr>
          <p:nvPr/>
        </p:nvPicPr>
        <p:blipFill>
          <a:blip r:embed="rId3"/>
          <a:stretch>
            <a:fillRect/>
          </a:stretch>
        </p:blipFill>
        <p:spPr>
          <a:xfrm>
            <a:off x="11137635" y="123382"/>
            <a:ext cx="929721" cy="693480"/>
          </a:xfrm>
          <a:prstGeom prst="rect">
            <a:avLst/>
          </a:prstGeom>
        </p:spPr>
      </p:pic>
      <p:pic>
        <p:nvPicPr>
          <p:cNvPr id="2050" name="Picture 2" descr="Logo de DataClass AI">
            <a:extLst>
              <a:ext uri="{FF2B5EF4-FFF2-40B4-BE49-F238E27FC236}">
                <a16:creationId xmlns:a16="http://schemas.microsoft.com/office/drawing/2014/main" id="{32F1E436-2B1D-14E0-AE25-4A3C5368D5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644" y="45183"/>
            <a:ext cx="952500" cy="952500"/>
          </a:xfrm>
          <a:prstGeom prst="rect">
            <a:avLst/>
          </a:prstGeom>
          <a:noFill/>
          <a:extLst>
            <a:ext uri="{909E8E84-426E-40DD-AFC4-6F175D3DCCD1}">
              <a14:hiddenFill xmlns:a14="http://schemas.microsoft.com/office/drawing/2010/main">
                <a:solidFill>
                  <a:srgbClr val="FFFFFF"/>
                </a:solidFill>
              </a14:hiddenFill>
            </a:ext>
          </a:extLst>
        </p:spPr>
      </p:pic>
      <p:sp>
        <p:nvSpPr>
          <p:cNvPr id="14" name="ZoneTexte 13">
            <a:extLst>
              <a:ext uri="{FF2B5EF4-FFF2-40B4-BE49-F238E27FC236}">
                <a16:creationId xmlns:a16="http://schemas.microsoft.com/office/drawing/2014/main" id="{65E3E9DB-2AE2-8D06-A996-7DE66AF2CC73}"/>
              </a:ext>
            </a:extLst>
          </p:cNvPr>
          <p:cNvSpPr txBox="1"/>
          <p:nvPr/>
        </p:nvSpPr>
        <p:spPr>
          <a:xfrm>
            <a:off x="5556039" y="6475452"/>
            <a:ext cx="266420" cy="276999"/>
          </a:xfrm>
          <a:prstGeom prst="rect">
            <a:avLst/>
          </a:prstGeom>
          <a:noFill/>
        </p:spPr>
        <p:txBody>
          <a:bodyPr wrap="none" rtlCol="0">
            <a:spAutoFit/>
          </a:bodyPr>
          <a:lstStyle/>
          <a:p>
            <a:r>
              <a:rPr lang="fr-FR" sz="1200" noProof="0" dirty="0"/>
              <a:t>4</a:t>
            </a:r>
          </a:p>
        </p:txBody>
      </p:sp>
      <p:sp>
        <p:nvSpPr>
          <p:cNvPr id="11" name="ZoneTexte 10">
            <a:extLst>
              <a:ext uri="{FF2B5EF4-FFF2-40B4-BE49-F238E27FC236}">
                <a16:creationId xmlns:a16="http://schemas.microsoft.com/office/drawing/2014/main" id="{FF7C1755-525A-E912-41CF-B9E28285B226}"/>
              </a:ext>
            </a:extLst>
          </p:cNvPr>
          <p:cNvSpPr txBox="1"/>
          <p:nvPr/>
        </p:nvSpPr>
        <p:spPr>
          <a:xfrm>
            <a:off x="7567127" y="1483567"/>
            <a:ext cx="184731" cy="369332"/>
          </a:xfrm>
          <a:prstGeom prst="rect">
            <a:avLst/>
          </a:prstGeom>
          <a:noFill/>
        </p:spPr>
        <p:txBody>
          <a:bodyPr wrap="none" rtlCol="0">
            <a:spAutoFit/>
          </a:bodyPr>
          <a:lstStyle/>
          <a:p>
            <a:endParaRPr lang="fr-FR" dirty="0"/>
          </a:p>
        </p:txBody>
      </p:sp>
      <p:cxnSp>
        <p:nvCxnSpPr>
          <p:cNvPr id="5" name="Connecteur droit 4">
            <a:extLst>
              <a:ext uri="{FF2B5EF4-FFF2-40B4-BE49-F238E27FC236}">
                <a16:creationId xmlns:a16="http://schemas.microsoft.com/office/drawing/2014/main" id="{45366552-5460-D845-5F3D-44D46339FE73}"/>
              </a:ext>
            </a:extLst>
          </p:cNvPr>
          <p:cNvCxnSpPr>
            <a:cxnSpLocks/>
          </p:cNvCxnSpPr>
          <p:nvPr/>
        </p:nvCxnSpPr>
        <p:spPr>
          <a:xfrm>
            <a:off x="5930941" y="997683"/>
            <a:ext cx="76916" cy="5477769"/>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7" name="Tableau 6">
            <a:extLst>
              <a:ext uri="{FF2B5EF4-FFF2-40B4-BE49-F238E27FC236}">
                <a16:creationId xmlns:a16="http://schemas.microsoft.com/office/drawing/2014/main" id="{66750146-8666-03B9-3CB7-A28C3C9310B9}"/>
              </a:ext>
            </a:extLst>
          </p:cNvPr>
          <p:cNvGraphicFramePr>
            <a:graphicFrameLocks noGrp="1"/>
          </p:cNvGraphicFramePr>
          <p:nvPr>
            <p:extLst>
              <p:ext uri="{D42A27DB-BD31-4B8C-83A1-F6EECF244321}">
                <p14:modId xmlns:p14="http://schemas.microsoft.com/office/powerpoint/2010/main" val="1909590849"/>
              </p:ext>
            </p:extLst>
          </p:nvPr>
        </p:nvGraphicFramePr>
        <p:xfrm>
          <a:off x="150839" y="1012972"/>
          <a:ext cx="5405200" cy="5044440"/>
        </p:xfrm>
        <a:graphic>
          <a:graphicData uri="http://schemas.openxmlformats.org/drawingml/2006/table">
            <a:tbl>
              <a:tblPr>
                <a:tableStyleId>{2D5ABB26-0587-4C30-8999-92F81FD0307C}</a:tableStyleId>
              </a:tblPr>
              <a:tblGrid>
                <a:gridCol w="5405200">
                  <a:extLst>
                    <a:ext uri="{9D8B030D-6E8A-4147-A177-3AD203B41FA5}">
                      <a16:colId xmlns:a16="http://schemas.microsoft.com/office/drawing/2014/main" val="326662603"/>
                    </a:ext>
                  </a:extLst>
                </a:gridCol>
              </a:tblGrid>
              <a:tr h="0">
                <a:tc>
                  <a:txBody>
                    <a:bodyPr/>
                    <a:lstStyle/>
                    <a:p>
                      <a:pPr marL="0" indent="0" algn="l" defTabSz="914400" rtl="0" eaLnBrk="1" fontAlgn="t" latinLnBrk="0" hangingPunct="1">
                        <a:lnSpc>
                          <a:spcPts val="1500"/>
                        </a:lnSpc>
                        <a:buFont typeface="Wingdings" panose="05000000000000000000" pitchFamily="2" charset="2"/>
                        <a:buNone/>
                      </a:pPr>
                      <a:r>
                        <a:rPr lang="fr-FR" sz="1200" b="1" kern="1200" dirty="0">
                          <a:solidFill>
                            <a:schemeClr val="tx2">
                              <a:lumMod val="50000"/>
                              <a:lumOff val="50000"/>
                            </a:schemeClr>
                          </a:solidFill>
                          <a:effectLst/>
                          <a:latin typeface="+mn-lt"/>
                          <a:ea typeface="+mn-ea"/>
                          <a:cs typeface="+mn-cs"/>
                        </a:rPr>
                        <a:t>Fonctionnalité E — Rapport d’audit</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Générer un rapport comprenant :</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 contexte de l’audit.</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Les objets détectés.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Les quantités attendues et observées.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Les écarts identifiés.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Les catégories non prises en charge.</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Les limites de l’analyse.</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Les recommandations pour un contrôle complémentaire.</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Le rapport peut être généré à partir de règles programmées. Aucune IA générative n’est obligatoire pour cet examen.</a:t>
                      </a:r>
                    </a:p>
                    <a:p>
                      <a:pPr marL="0" indent="0" algn="l" defTabSz="914400" rtl="0" eaLnBrk="1" fontAlgn="t" latinLnBrk="0" hangingPunct="1">
                        <a:lnSpc>
                          <a:spcPts val="1500"/>
                        </a:lnSpc>
                        <a:buFont typeface="Wingdings" panose="05000000000000000000" pitchFamily="2" charset="2"/>
                        <a:buNone/>
                      </a:pPr>
                      <a:endParaRPr lang="fr-FR" sz="1200" b="0" kern="1200" dirty="0">
                        <a:solidFill>
                          <a:schemeClr val="tx1"/>
                        </a:solidFill>
                        <a:effectLst/>
                        <a:latin typeface="+mn-lt"/>
                        <a:ea typeface="+mn-ea"/>
                        <a:cs typeface="+mn-cs"/>
                      </a:endParaRPr>
                    </a:p>
                    <a:p>
                      <a:pPr marL="0" indent="0" algn="l" defTabSz="914400" rtl="0" eaLnBrk="1" fontAlgn="t" latinLnBrk="0" hangingPunct="1">
                        <a:lnSpc>
                          <a:spcPts val="1500"/>
                        </a:lnSpc>
                        <a:buFont typeface="Wingdings" panose="05000000000000000000" pitchFamily="2" charset="2"/>
                        <a:buNone/>
                      </a:pPr>
                      <a:r>
                        <a:rPr lang="fr-FR" sz="1200" b="1" kern="1200" dirty="0">
                          <a:solidFill>
                            <a:schemeClr val="tx2">
                              <a:lumMod val="50000"/>
                              <a:lumOff val="50000"/>
                            </a:schemeClr>
                          </a:solidFill>
                          <a:effectLst/>
                          <a:latin typeface="+mn-lt"/>
                          <a:ea typeface="+mn-ea"/>
                          <a:cs typeface="+mn-cs"/>
                        </a:rPr>
                        <a:t>5. Technologies imposées</a:t>
                      </a:r>
                    </a:p>
                    <a:p>
                      <a:pPr marL="0" indent="0" algn="l" defTabSz="914400" rtl="0" eaLnBrk="1" fontAlgn="t" latinLnBrk="0" hangingPunct="1">
                        <a:lnSpc>
                          <a:spcPts val="1500"/>
                        </a:lnSpc>
                        <a:buFont typeface="Wingdings" panose="05000000000000000000" pitchFamily="2" charset="2"/>
                        <a:buNone/>
                      </a:pPr>
                      <a:r>
                        <a:rPr lang="fr-FR" sz="1200" b="1" kern="1200" dirty="0">
                          <a:solidFill>
                            <a:schemeClr val="tx2">
                              <a:lumMod val="50000"/>
                              <a:lumOff val="50000"/>
                            </a:schemeClr>
                          </a:solidFill>
                          <a:effectLst/>
                          <a:latin typeface="+mn-lt"/>
                          <a:ea typeface="+mn-ea"/>
                          <a:cs typeface="+mn-cs"/>
                        </a:rPr>
                        <a:t>Frontend</a:t>
                      </a:r>
                    </a:p>
                    <a:p>
                      <a:pPr marL="0" indent="0" algn="l" defTabSz="914400" rtl="0" eaLnBrk="1" fontAlgn="t" latinLnBrk="0" hangingPunct="1">
                        <a:lnSpc>
                          <a:spcPts val="1500"/>
                        </a:lnSpc>
                        <a:buFont typeface="Wingdings" panose="05000000000000000000" pitchFamily="2" charset="2"/>
                        <a:buNone/>
                      </a:pPr>
                      <a:r>
                        <a:rPr lang="fr-FR" sz="1200" b="0" kern="1200" dirty="0">
                          <a:solidFill>
                            <a:schemeClr val="tx1"/>
                          </a:solidFill>
                          <a:effectLst/>
                          <a:latin typeface="+mn-lt"/>
                          <a:ea typeface="+mn-ea"/>
                          <a:cs typeface="+mn-cs"/>
                        </a:rPr>
                        <a:t>Vous pouvez utiliser :</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HTML.</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CSS.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JavaScript.</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Un </a:t>
                      </a:r>
                      <a:r>
                        <a:rPr lang="fr-FR" sz="1200" b="0" kern="1200" dirty="0" err="1">
                          <a:solidFill>
                            <a:schemeClr val="tx1"/>
                          </a:solidFill>
                          <a:effectLst/>
                          <a:latin typeface="+mn-lt"/>
                          <a:ea typeface="+mn-ea"/>
                          <a:cs typeface="+mn-cs"/>
                        </a:rPr>
                        <a:t>framework</a:t>
                      </a:r>
                      <a:r>
                        <a:rPr lang="fr-FR" sz="1200" b="0" kern="1200" dirty="0">
                          <a:solidFill>
                            <a:schemeClr val="tx1"/>
                          </a:solidFill>
                          <a:effectLst/>
                          <a:latin typeface="+mn-lt"/>
                          <a:ea typeface="+mn-ea"/>
                          <a:cs typeface="+mn-cs"/>
                        </a:rPr>
                        <a:t> comme </a:t>
                      </a:r>
                      <a:r>
                        <a:rPr lang="fr-FR" sz="1200" b="0" kern="1200" dirty="0" err="1">
                          <a:solidFill>
                            <a:schemeClr val="tx1"/>
                          </a:solidFill>
                          <a:effectLst/>
                          <a:latin typeface="+mn-lt"/>
                          <a:ea typeface="+mn-ea"/>
                          <a:cs typeface="+mn-cs"/>
                        </a:rPr>
                        <a:t>React</a:t>
                      </a:r>
                      <a:r>
                        <a:rPr lang="fr-FR" sz="1200" b="0" kern="1200" dirty="0">
                          <a:solidFill>
                            <a:schemeClr val="tx1"/>
                          </a:solidFill>
                          <a:effectLst/>
                          <a:latin typeface="+mn-lt"/>
                          <a:ea typeface="+mn-ea"/>
                          <a:cs typeface="+mn-cs"/>
                        </a:rPr>
                        <a:t> ou Vue est autorisé, mais non obligatoire.</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Vous pouvez utiliser Bootstrap ou </a:t>
                      </a:r>
                      <a:r>
                        <a:rPr lang="fr-FR" sz="1200" b="0" kern="1200" dirty="0" err="1">
                          <a:solidFill>
                            <a:schemeClr val="tx1"/>
                          </a:solidFill>
                          <a:effectLst/>
                          <a:latin typeface="+mn-lt"/>
                          <a:ea typeface="+mn-ea"/>
                          <a:cs typeface="+mn-cs"/>
                        </a:rPr>
                        <a:t>Tailwind</a:t>
                      </a:r>
                      <a:r>
                        <a:rPr lang="fr-FR" sz="1200" b="0" kern="1200" dirty="0">
                          <a:solidFill>
                            <a:schemeClr val="tx1"/>
                          </a:solidFill>
                          <a:effectLst/>
                          <a:latin typeface="+mn-lt"/>
                          <a:ea typeface="+mn-ea"/>
                          <a:cs typeface="+mn-cs"/>
                        </a:rPr>
                        <a:t> CSS pour améliorer le rendu de l’application.</a:t>
                      </a:r>
                    </a:p>
                    <a:p>
                      <a:pPr marL="0" indent="0" algn="l" defTabSz="914400" rtl="0" eaLnBrk="1" fontAlgn="t" latinLnBrk="0" hangingPunct="1">
                        <a:lnSpc>
                          <a:spcPts val="1500"/>
                        </a:lnSpc>
                        <a:buFont typeface="Wingdings" panose="05000000000000000000" pitchFamily="2" charset="2"/>
                        <a:buNone/>
                      </a:pPr>
                      <a:r>
                        <a:rPr lang="fr-FR" sz="1200" b="1" kern="1200" dirty="0">
                          <a:solidFill>
                            <a:schemeClr val="tx2">
                              <a:lumMod val="50000"/>
                              <a:lumOff val="50000"/>
                            </a:schemeClr>
                          </a:solidFill>
                          <a:effectLst/>
                          <a:latin typeface="+mn-lt"/>
                          <a:ea typeface="+mn-ea"/>
                          <a:cs typeface="+mn-cs"/>
                        </a:rPr>
                        <a:t>Modèle de vision</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Utiliser un modèle </a:t>
                      </a:r>
                      <a:r>
                        <a:rPr lang="fr-FR" sz="1200" b="0" kern="1200" dirty="0" err="1">
                          <a:solidFill>
                            <a:schemeClr val="tx1"/>
                          </a:solidFill>
                          <a:effectLst/>
                          <a:latin typeface="+mn-lt"/>
                          <a:ea typeface="+mn-ea"/>
                          <a:cs typeface="+mn-cs"/>
                        </a:rPr>
                        <a:t>préentraîné</a:t>
                      </a:r>
                      <a:r>
                        <a:rPr lang="fr-FR" sz="1200" b="0" kern="1200" dirty="0">
                          <a:solidFill>
                            <a:schemeClr val="tx1"/>
                          </a:solidFill>
                          <a:effectLst/>
                          <a:latin typeface="+mn-lt"/>
                          <a:ea typeface="+mn-ea"/>
                          <a:cs typeface="+mn-cs"/>
                        </a:rPr>
                        <a:t> de détection d’objets compatible avec le navigateur, par exemple TensorFlow.js et COCO-SSD.</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La détection peut être réalisée directement dans le navigateur, sans envoyer les images vers un serveur.</a:t>
                      </a:r>
                    </a:p>
                  </a:txBody>
                  <a:tcPr/>
                </a:tc>
                <a:extLst>
                  <a:ext uri="{0D108BD9-81ED-4DB2-BD59-A6C34878D82A}">
                    <a16:rowId xmlns:a16="http://schemas.microsoft.com/office/drawing/2014/main" val="1458786338"/>
                  </a:ext>
                </a:extLst>
              </a:tr>
            </a:tbl>
          </a:graphicData>
        </a:graphic>
      </p:graphicFrame>
      <p:graphicFrame>
        <p:nvGraphicFramePr>
          <p:cNvPr id="13" name="Tableau 12">
            <a:extLst>
              <a:ext uri="{FF2B5EF4-FFF2-40B4-BE49-F238E27FC236}">
                <a16:creationId xmlns:a16="http://schemas.microsoft.com/office/drawing/2014/main" id="{8F478787-DC03-2A06-186C-471AECC2CF7C}"/>
              </a:ext>
            </a:extLst>
          </p:cNvPr>
          <p:cNvGraphicFramePr>
            <a:graphicFrameLocks noGrp="1"/>
          </p:cNvGraphicFramePr>
          <p:nvPr>
            <p:extLst>
              <p:ext uri="{D42A27DB-BD31-4B8C-83A1-F6EECF244321}">
                <p14:modId xmlns:p14="http://schemas.microsoft.com/office/powerpoint/2010/main" val="652634761"/>
              </p:ext>
            </p:extLst>
          </p:nvPr>
        </p:nvGraphicFramePr>
        <p:xfrm>
          <a:off x="6184145" y="1051560"/>
          <a:ext cx="5601242" cy="2758440"/>
        </p:xfrm>
        <a:graphic>
          <a:graphicData uri="http://schemas.openxmlformats.org/drawingml/2006/table">
            <a:tbl>
              <a:tblPr>
                <a:tableStyleId>{2D5ABB26-0587-4C30-8999-92F81FD0307C}</a:tableStyleId>
              </a:tblPr>
              <a:tblGrid>
                <a:gridCol w="5601242">
                  <a:extLst>
                    <a:ext uri="{9D8B030D-6E8A-4147-A177-3AD203B41FA5}">
                      <a16:colId xmlns:a16="http://schemas.microsoft.com/office/drawing/2014/main" val="1271002258"/>
                    </a:ext>
                  </a:extLst>
                </a:gridCol>
              </a:tblGrid>
              <a:tr h="0">
                <a:tc>
                  <a:txBody>
                    <a:bodyPr/>
                    <a:lstStyle/>
                    <a:p>
                      <a:pPr marL="0" indent="0" algn="l" defTabSz="914400" rtl="0" eaLnBrk="1" fontAlgn="t" latinLnBrk="0" hangingPunct="1">
                        <a:lnSpc>
                          <a:spcPts val="1500"/>
                        </a:lnSpc>
                        <a:buFont typeface="Wingdings" panose="05000000000000000000" pitchFamily="2" charset="2"/>
                        <a:buNone/>
                      </a:pPr>
                      <a:r>
                        <a:rPr lang="fr-FR" sz="1200" b="1" kern="1200" dirty="0">
                          <a:solidFill>
                            <a:schemeClr val="tx2">
                              <a:lumMod val="50000"/>
                              <a:lumOff val="50000"/>
                            </a:schemeClr>
                          </a:solidFill>
                          <a:effectLst/>
                          <a:latin typeface="+mn-lt"/>
                          <a:ea typeface="+mn-ea"/>
                          <a:cs typeface="+mn-cs"/>
                        </a:rPr>
                        <a:t>GitHub</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GitHub doit être utilisé pour :</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Héberger le code source.</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Gérer les versions.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Documenter le projet.</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Enregistrer les </a:t>
                      </a:r>
                      <a:r>
                        <a:rPr lang="fr-FR" sz="1200" b="0" kern="1200" dirty="0" err="1">
                          <a:solidFill>
                            <a:schemeClr val="tx1"/>
                          </a:solidFill>
                          <a:effectLst/>
                          <a:latin typeface="+mn-lt"/>
                          <a:ea typeface="+mn-ea"/>
                          <a:cs typeface="+mn-cs"/>
                        </a:rPr>
                        <a:t>commits</a:t>
                      </a:r>
                      <a:r>
                        <a:rPr lang="fr-FR" sz="1200" b="0" kern="1200" dirty="0">
                          <a:solidFill>
                            <a:schemeClr val="tx1"/>
                          </a:solidFill>
                          <a:effectLst/>
                          <a:latin typeface="+mn-lt"/>
                          <a:ea typeface="+mn-ea"/>
                          <a:cs typeface="+mn-cs"/>
                        </a:rPr>
                        <a:t>.</a:t>
                      </a:r>
                    </a:p>
                    <a:p>
                      <a:pPr marL="171450" indent="-171450" algn="l" defTabSz="914400" rtl="0" eaLnBrk="1" fontAlgn="t" latinLnBrk="0" hangingPunct="1">
                        <a:lnSpc>
                          <a:spcPts val="1500"/>
                        </a:lnSpc>
                        <a:buFont typeface="Wingdings" panose="05000000000000000000" pitchFamily="2" charset="2"/>
                        <a:buChar char="q"/>
                      </a:pPr>
                      <a:r>
                        <a:rPr lang="fr-FR" sz="1200" b="0" kern="1200" dirty="0">
                          <a:solidFill>
                            <a:schemeClr val="tx1"/>
                          </a:solidFill>
                          <a:effectLst/>
                          <a:latin typeface="+mn-lt"/>
                          <a:ea typeface="+mn-ea"/>
                          <a:cs typeface="+mn-cs"/>
                        </a:rPr>
                        <a:t>Suivre les tâches du projet.</a:t>
                      </a:r>
                    </a:p>
                    <a:p>
                      <a:pPr marL="0" indent="0" algn="l" defTabSz="914400" rtl="0" eaLnBrk="1" fontAlgn="t" latinLnBrk="0" hangingPunct="1">
                        <a:lnSpc>
                          <a:spcPts val="1500"/>
                        </a:lnSpc>
                        <a:buFont typeface="Wingdings" panose="05000000000000000000" pitchFamily="2" charset="2"/>
                        <a:buNone/>
                      </a:pPr>
                      <a:endParaRPr lang="fr-FR" sz="1200" b="0" kern="1200" dirty="0">
                        <a:solidFill>
                          <a:schemeClr val="tx1"/>
                        </a:solidFill>
                        <a:effectLst/>
                        <a:latin typeface="+mn-lt"/>
                        <a:ea typeface="+mn-ea"/>
                        <a:cs typeface="+mn-cs"/>
                      </a:endParaRPr>
                    </a:p>
                    <a:p>
                      <a:pPr marL="0" indent="0" algn="l" defTabSz="914400" rtl="0" eaLnBrk="1" fontAlgn="t" latinLnBrk="0" hangingPunct="1">
                        <a:lnSpc>
                          <a:spcPts val="1500"/>
                        </a:lnSpc>
                        <a:buFont typeface="Wingdings" panose="05000000000000000000" pitchFamily="2" charset="2"/>
                        <a:buNone/>
                      </a:pPr>
                      <a:r>
                        <a:rPr lang="fr-FR" sz="1200" b="1" kern="1200" dirty="0" err="1">
                          <a:solidFill>
                            <a:schemeClr val="tx2">
                              <a:lumMod val="50000"/>
                              <a:lumOff val="50000"/>
                            </a:schemeClr>
                          </a:solidFill>
                          <a:effectLst/>
                          <a:latin typeface="+mn-lt"/>
                          <a:ea typeface="+mn-ea"/>
                          <a:cs typeface="+mn-cs"/>
                        </a:rPr>
                        <a:t>Cloudflare</a:t>
                      </a:r>
                      <a:r>
                        <a:rPr lang="fr-FR" sz="1200" b="1" kern="1200" dirty="0">
                          <a:solidFill>
                            <a:schemeClr val="tx2">
                              <a:lumMod val="50000"/>
                              <a:lumOff val="50000"/>
                            </a:schemeClr>
                          </a:solidFill>
                          <a:effectLst/>
                          <a:latin typeface="+mn-lt"/>
                          <a:ea typeface="+mn-ea"/>
                          <a:cs typeface="+mn-cs"/>
                        </a:rPr>
                        <a:t> Pages</a:t>
                      </a:r>
                    </a:p>
                    <a:p>
                      <a:pPr marL="171450" indent="-171450" algn="l" defTabSz="914400" rtl="0" eaLnBrk="1" fontAlgn="t" latinLnBrk="0" hangingPunct="1">
                        <a:lnSpc>
                          <a:spcPts val="1500"/>
                        </a:lnSpc>
                        <a:buFont typeface="Wingdings" panose="05000000000000000000" pitchFamily="2" charset="2"/>
                        <a:buChar char="q"/>
                      </a:pPr>
                      <a:r>
                        <a:rPr lang="fr-FR" sz="1200" b="0" kern="1200" dirty="0" err="1">
                          <a:solidFill>
                            <a:schemeClr val="tx1"/>
                          </a:solidFill>
                          <a:effectLst/>
                          <a:latin typeface="+mn-lt"/>
                          <a:ea typeface="+mn-ea"/>
                          <a:cs typeface="+mn-cs"/>
                        </a:rPr>
                        <a:t>Cloudflare</a:t>
                      </a:r>
                      <a:r>
                        <a:rPr lang="fr-FR" sz="1200" b="0" kern="1200" dirty="0">
                          <a:solidFill>
                            <a:schemeClr val="tx1"/>
                          </a:solidFill>
                          <a:effectLst/>
                          <a:latin typeface="+mn-lt"/>
                          <a:ea typeface="+mn-ea"/>
                          <a:cs typeface="+mn-cs"/>
                        </a:rPr>
                        <a:t> Pages doit être utilisé pour héberger l’application web et obtenir une URL publique de démonstration.</a:t>
                      </a:r>
                    </a:p>
                    <a:p>
                      <a:pPr marL="171450" indent="-171450" algn="l" defTabSz="914400" rtl="0" eaLnBrk="1" fontAlgn="t" latinLnBrk="0" hangingPunct="1">
                        <a:lnSpc>
                          <a:spcPts val="1500"/>
                        </a:lnSpc>
                        <a:buFont typeface="Wingdings" panose="05000000000000000000" pitchFamily="2" charset="2"/>
                        <a:buChar char="q"/>
                      </a:pPr>
                      <a:endParaRPr lang="fr-FR" sz="1200" b="0" kern="1200" dirty="0">
                        <a:solidFill>
                          <a:schemeClr val="tx1"/>
                        </a:solidFill>
                        <a:effectLst/>
                        <a:latin typeface="+mn-lt"/>
                        <a:ea typeface="+mn-ea"/>
                        <a:cs typeface="+mn-cs"/>
                      </a:endParaRPr>
                    </a:p>
                    <a:p>
                      <a:pPr marL="171450" indent="-171450" algn="l" defTabSz="914400" rtl="0" eaLnBrk="1" fontAlgn="t" latinLnBrk="0" hangingPunct="1">
                        <a:lnSpc>
                          <a:spcPts val="1500"/>
                        </a:lnSpc>
                        <a:buFont typeface="Wingdings" panose="05000000000000000000" pitchFamily="2" charset="2"/>
                        <a:buChar char="q"/>
                      </a:pPr>
                      <a:r>
                        <a:rPr lang="fr-FR" sz="1200" b="0" kern="1200" dirty="0" err="1">
                          <a:solidFill>
                            <a:schemeClr val="tx1"/>
                          </a:solidFill>
                          <a:effectLst/>
                          <a:latin typeface="+mn-lt"/>
                          <a:ea typeface="+mn-ea"/>
                          <a:cs typeface="+mn-cs"/>
                        </a:rPr>
                        <a:t>Cloudflare</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Workers</a:t>
                      </a:r>
                      <a:r>
                        <a:rPr lang="fr-FR" sz="1200" b="0" kern="1200" dirty="0">
                          <a:solidFill>
                            <a:schemeClr val="tx1"/>
                          </a:solidFill>
                          <a:effectLst/>
                          <a:latin typeface="+mn-lt"/>
                          <a:ea typeface="+mn-ea"/>
                          <a:cs typeface="+mn-cs"/>
                        </a:rPr>
                        <a:t> et une API backend ne sont pas obligatoires, puisque le modèle de vision peut fonctionner directement dans le navigateur.</a:t>
                      </a:r>
                    </a:p>
                  </a:txBody>
                  <a:tcPr/>
                </a:tc>
                <a:extLst>
                  <a:ext uri="{0D108BD9-81ED-4DB2-BD59-A6C34878D82A}">
                    <a16:rowId xmlns:a16="http://schemas.microsoft.com/office/drawing/2014/main" val="2759157787"/>
                  </a:ext>
                </a:extLst>
              </a:tr>
            </a:tbl>
          </a:graphicData>
        </a:graphic>
      </p:graphicFrame>
      <p:graphicFrame>
        <p:nvGraphicFramePr>
          <p:cNvPr id="15" name="Tableau 14">
            <a:extLst>
              <a:ext uri="{FF2B5EF4-FFF2-40B4-BE49-F238E27FC236}">
                <a16:creationId xmlns:a16="http://schemas.microsoft.com/office/drawing/2014/main" id="{99C29E6B-B1C4-B149-F807-04A842482497}"/>
              </a:ext>
            </a:extLst>
          </p:cNvPr>
          <p:cNvGraphicFramePr>
            <a:graphicFrameLocks noGrp="1"/>
          </p:cNvGraphicFramePr>
          <p:nvPr>
            <p:extLst>
              <p:ext uri="{D42A27DB-BD31-4B8C-83A1-F6EECF244321}">
                <p14:modId xmlns:p14="http://schemas.microsoft.com/office/powerpoint/2010/main" val="2085609203"/>
              </p:ext>
            </p:extLst>
          </p:nvPr>
        </p:nvGraphicFramePr>
        <p:xfrm>
          <a:off x="6220412" y="3922490"/>
          <a:ext cx="6075661" cy="3097452"/>
        </p:xfrm>
        <a:graphic>
          <a:graphicData uri="http://schemas.openxmlformats.org/drawingml/2006/table">
            <a:tbl>
              <a:tblPr>
                <a:tableStyleId>{2D5ABB26-0587-4C30-8999-92F81FD0307C}</a:tableStyleId>
              </a:tblPr>
              <a:tblGrid>
                <a:gridCol w="6075661">
                  <a:extLst>
                    <a:ext uri="{9D8B030D-6E8A-4147-A177-3AD203B41FA5}">
                      <a16:colId xmlns:a16="http://schemas.microsoft.com/office/drawing/2014/main" val="527651085"/>
                    </a:ext>
                  </a:extLst>
                </a:gridCol>
              </a:tblGrid>
              <a:tr h="2147244">
                <a:tc>
                  <a:txBody>
                    <a:bodyPr/>
                    <a:lstStyle/>
                    <a:p>
                      <a:pPr marL="0" indent="0" algn="l" defTabSz="914400" rtl="0" eaLnBrk="1" fontAlgn="t" latinLnBrk="0" hangingPunct="1">
                        <a:lnSpc>
                          <a:spcPts val="1500"/>
                        </a:lnSpc>
                        <a:buFont typeface="Wingdings" panose="05000000000000000000" pitchFamily="2" charset="2"/>
                        <a:buNone/>
                      </a:pPr>
                      <a:r>
                        <a:rPr lang="fr-FR" sz="1200" b="1" kern="1200" dirty="0">
                          <a:solidFill>
                            <a:schemeClr val="tx2">
                              <a:lumMod val="50000"/>
                              <a:lumOff val="50000"/>
                            </a:schemeClr>
                          </a:solidFill>
                          <a:effectLst/>
                          <a:latin typeface="+mn-lt"/>
                          <a:ea typeface="+mn-ea"/>
                          <a:cs typeface="+mn-cs"/>
                        </a:rPr>
                        <a:t>6. Gestion du projet</a:t>
                      </a:r>
                    </a:p>
                    <a:p>
                      <a:r>
                        <a:rPr lang="fr-FR" sz="1200" b="0" kern="1200" dirty="0">
                          <a:solidFill>
                            <a:schemeClr val="tx1"/>
                          </a:solidFill>
                          <a:effectLst/>
                          <a:latin typeface="+mn-lt"/>
                          <a:ea typeface="+mn-ea"/>
                          <a:cs typeface="+mn-cs"/>
                        </a:rPr>
                        <a:t>Vous devez produire un mini-dossier de gestion de projet contenant :</a:t>
                      </a:r>
                    </a:p>
                    <a:p>
                      <a:pPr marL="228600" indent="-228600">
                        <a:buFont typeface="Wingdings" panose="05000000000000000000" pitchFamily="2" charset="2"/>
                        <a:buChar char="q"/>
                      </a:pPr>
                      <a:r>
                        <a:rPr lang="fr-FR" sz="1200" b="0" kern="1200" dirty="0">
                          <a:solidFill>
                            <a:schemeClr val="tx1"/>
                          </a:solidFill>
                          <a:effectLst/>
                          <a:latin typeface="+mn-lt"/>
                          <a:ea typeface="+mn-ea"/>
                          <a:cs typeface="+mn-cs"/>
                        </a:rPr>
                        <a:t>Cadrage</a:t>
                      </a:r>
                    </a:p>
                    <a:p>
                      <a:pPr marL="228600" indent="-228600">
                        <a:buFont typeface="Wingdings" panose="05000000000000000000" pitchFamily="2" charset="2"/>
                        <a:buChar char="q"/>
                      </a:pPr>
                      <a:r>
                        <a:rPr lang="fr-FR" sz="1200" b="0" kern="1200" dirty="0">
                          <a:solidFill>
                            <a:schemeClr val="tx1"/>
                          </a:solidFill>
                          <a:effectLst/>
                          <a:latin typeface="+mn-lt"/>
                          <a:ea typeface="+mn-ea"/>
                          <a:cs typeface="+mn-cs"/>
                        </a:rPr>
                        <a:t>Problématique métier.</a:t>
                      </a:r>
                    </a:p>
                    <a:p>
                      <a:pPr marL="228600" indent="-228600">
                        <a:buFont typeface="Wingdings" panose="05000000000000000000" pitchFamily="2" charset="2"/>
                        <a:buChar char="q"/>
                      </a:pPr>
                      <a:r>
                        <a:rPr lang="fr-FR" sz="1200" b="0" kern="1200" dirty="0">
                          <a:solidFill>
                            <a:schemeClr val="tx1"/>
                          </a:solidFill>
                          <a:effectLst/>
                          <a:latin typeface="+mn-lt"/>
                          <a:ea typeface="+mn-ea"/>
                          <a:cs typeface="+mn-cs"/>
                        </a:rPr>
                        <a:t>Objectifs.</a:t>
                      </a:r>
                    </a:p>
                    <a:p>
                      <a:pPr marL="228600" indent="-228600">
                        <a:buFont typeface="Wingdings" panose="05000000000000000000" pitchFamily="2" charset="2"/>
                        <a:buChar char="q"/>
                      </a:pPr>
                      <a:r>
                        <a:rPr lang="fr-FR" sz="1200" b="0" kern="1200" dirty="0">
                          <a:solidFill>
                            <a:schemeClr val="tx1"/>
                          </a:solidFill>
                          <a:effectLst/>
                          <a:latin typeface="+mn-lt"/>
                          <a:ea typeface="+mn-ea"/>
                          <a:cs typeface="+mn-cs"/>
                        </a:rPr>
                        <a:t>Utilisateurs cibles.</a:t>
                      </a:r>
                    </a:p>
                    <a:p>
                      <a:pPr marL="228600" indent="-228600">
                        <a:buFont typeface="Wingdings" panose="05000000000000000000" pitchFamily="2" charset="2"/>
                        <a:buChar char="q"/>
                      </a:pPr>
                      <a:r>
                        <a:rPr lang="fr-FR" sz="1200" b="0" kern="1200" dirty="0">
                          <a:solidFill>
                            <a:schemeClr val="tx1"/>
                          </a:solidFill>
                          <a:effectLst/>
                          <a:latin typeface="+mn-lt"/>
                          <a:ea typeface="+mn-ea"/>
                          <a:cs typeface="+mn-cs"/>
                        </a:rPr>
                        <a:t>Périmètre du MVP.</a:t>
                      </a:r>
                    </a:p>
                    <a:p>
                      <a:pPr marL="228600" indent="-228600">
                        <a:buFont typeface="Wingdings" panose="05000000000000000000" pitchFamily="2" charset="2"/>
                        <a:buChar char="q"/>
                      </a:pPr>
                      <a:r>
                        <a:rPr lang="fr-FR" sz="1200" b="0" kern="1200" dirty="0">
                          <a:solidFill>
                            <a:schemeClr val="tx1"/>
                          </a:solidFill>
                          <a:effectLst/>
                          <a:latin typeface="+mn-lt"/>
                          <a:ea typeface="+mn-ea"/>
                          <a:cs typeface="+mn-cs"/>
                        </a:rPr>
                        <a:t>Fonctionnalités exclues.</a:t>
                      </a:r>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2">
                              <a:lumMod val="50000"/>
                              <a:lumOff val="50000"/>
                            </a:schemeClr>
                          </a:solidFill>
                          <a:effectLst/>
                          <a:latin typeface="+mn-lt"/>
                          <a:ea typeface="+mn-ea"/>
                          <a:cs typeface="+mn-cs"/>
                        </a:rPr>
                        <a:t>Planification</a:t>
                      </a:r>
                    </a:p>
                    <a:p>
                      <a:r>
                        <a:rPr lang="fr-FR" sz="1200" b="0" kern="1200" dirty="0">
                          <a:solidFill>
                            <a:schemeClr val="tx1"/>
                          </a:solidFill>
                          <a:effectLst/>
                          <a:latin typeface="+mn-lt"/>
                          <a:ea typeface="+mn-ea"/>
                          <a:cs typeface="+mn-cs"/>
                        </a:rPr>
                        <a:t>Au moins 8 tâches ou user stories.</a:t>
                      </a:r>
                    </a:p>
                    <a:p>
                      <a:r>
                        <a:rPr lang="fr-FR" sz="1200" b="0" kern="1200" dirty="0">
                          <a:solidFill>
                            <a:schemeClr val="tx1"/>
                          </a:solidFill>
                          <a:effectLst/>
                          <a:latin typeface="+mn-lt"/>
                          <a:ea typeface="+mn-ea"/>
                          <a:cs typeface="+mn-cs"/>
                        </a:rPr>
                        <a:t>Une priorité par tâche.</a:t>
                      </a:r>
                    </a:p>
                    <a:p>
                      <a:r>
                        <a:rPr lang="fr-FR" sz="1200" b="0" kern="1200" dirty="0">
                          <a:solidFill>
                            <a:schemeClr val="tx1"/>
                          </a:solidFill>
                          <a:effectLst/>
                          <a:latin typeface="+mn-lt"/>
                          <a:ea typeface="+mn-ea"/>
                          <a:cs typeface="+mn-cs"/>
                        </a:rPr>
                        <a:t>Un statut d’avancement.</a:t>
                      </a:r>
                    </a:p>
                    <a:p>
                      <a:r>
                        <a:rPr lang="fr-FR" sz="1200" b="0" kern="1200" dirty="0">
                          <a:solidFill>
                            <a:schemeClr val="tx1"/>
                          </a:solidFill>
                          <a:effectLst/>
                          <a:latin typeface="+mn-lt"/>
                          <a:ea typeface="+mn-ea"/>
                          <a:cs typeface="+mn-cs"/>
                        </a:rPr>
                        <a:t>Une liste des risques.</a:t>
                      </a:r>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txBody>
                  <a:tcPr marL="81875" marR="81875" marT="40938" marB="40938"/>
                </a:tc>
                <a:extLst>
                  <a:ext uri="{0D108BD9-81ED-4DB2-BD59-A6C34878D82A}">
                    <a16:rowId xmlns:a16="http://schemas.microsoft.com/office/drawing/2014/main" val="3809628534"/>
                  </a:ext>
                </a:extLst>
              </a:tr>
              <a:tr h="241416">
                <a:tc>
                  <a:txBody>
                    <a:bodyPr/>
                    <a:lstStyle/>
                    <a:p>
                      <a:endParaRPr lang="fr-FR" sz="1200" b="0" dirty="0"/>
                    </a:p>
                  </a:txBody>
                  <a:tcPr marL="81875" marR="81875" marT="40938" marB="40938"/>
                </a:tc>
                <a:extLst>
                  <a:ext uri="{0D108BD9-81ED-4DB2-BD59-A6C34878D82A}">
                    <a16:rowId xmlns:a16="http://schemas.microsoft.com/office/drawing/2014/main" val="3178221913"/>
                  </a:ext>
                </a:extLst>
              </a:tr>
            </a:tbl>
          </a:graphicData>
        </a:graphic>
      </p:graphicFrame>
      <p:sp>
        <p:nvSpPr>
          <p:cNvPr id="2" name="ZoneTexte 1">
            <a:extLst>
              <a:ext uri="{FF2B5EF4-FFF2-40B4-BE49-F238E27FC236}">
                <a16:creationId xmlns:a16="http://schemas.microsoft.com/office/drawing/2014/main" id="{1549E21A-1441-DF39-8DD7-D9CD11A6DA2C}"/>
              </a:ext>
            </a:extLst>
          </p:cNvPr>
          <p:cNvSpPr txBox="1"/>
          <p:nvPr/>
        </p:nvSpPr>
        <p:spPr>
          <a:xfrm>
            <a:off x="4086198" y="129459"/>
            <a:ext cx="4244368" cy="738664"/>
          </a:xfrm>
          <a:prstGeom prst="rect">
            <a:avLst/>
          </a:prstGeom>
          <a:noFill/>
        </p:spPr>
        <p:txBody>
          <a:bodyPr wrap="none" rtlCol="0">
            <a:spAutoFit/>
          </a:bodyPr>
          <a:lstStyle/>
          <a:p>
            <a:pPr algn="ctr"/>
            <a:r>
              <a:rPr lang="fr-FR" sz="2400" b="1" noProof="0" dirty="0"/>
              <a:t>🧠 EXAMEN FINAL EPITA </a:t>
            </a:r>
            <a:br>
              <a:rPr lang="fr-FR" sz="2400" b="1" noProof="0" dirty="0"/>
            </a:br>
            <a:r>
              <a:rPr lang="fr-FR" b="1" noProof="0" dirty="0"/>
              <a:t>IA FOR Managers – EPITA Smart Classroom</a:t>
            </a:r>
          </a:p>
        </p:txBody>
      </p:sp>
      <p:sp>
        <p:nvSpPr>
          <p:cNvPr id="3" name="ZoneTexte 2">
            <a:extLst>
              <a:ext uri="{FF2B5EF4-FFF2-40B4-BE49-F238E27FC236}">
                <a16:creationId xmlns:a16="http://schemas.microsoft.com/office/drawing/2014/main" id="{BA6EF8A9-6FD9-F07A-8B55-9D994B863721}"/>
              </a:ext>
            </a:extLst>
          </p:cNvPr>
          <p:cNvSpPr txBox="1"/>
          <p:nvPr/>
        </p:nvSpPr>
        <p:spPr>
          <a:xfrm>
            <a:off x="0" y="6581001"/>
            <a:ext cx="931665" cy="276999"/>
          </a:xfrm>
          <a:prstGeom prst="rect">
            <a:avLst/>
          </a:prstGeom>
          <a:noFill/>
        </p:spPr>
        <p:txBody>
          <a:bodyPr wrap="none" rtlCol="0">
            <a:spAutoFit/>
          </a:bodyPr>
          <a:lstStyle/>
          <a:p>
            <a:r>
              <a:rPr lang="fr-FR" sz="1200" dirty="0"/>
              <a:t>16/10</a:t>
            </a:r>
            <a:r>
              <a:rPr lang="fr-FR" sz="1200" noProof="0" dirty="0"/>
              <a:t>/2026</a:t>
            </a:r>
          </a:p>
        </p:txBody>
      </p:sp>
    </p:spTree>
    <p:extLst>
      <p:ext uri="{BB962C8B-B14F-4D97-AF65-F5344CB8AC3E}">
        <p14:creationId xmlns:p14="http://schemas.microsoft.com/office/powerpoint/2010/main" val="1989391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73866-02B2-0B58-FE2C-FC88BCDFABC1}"/>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58AA0DE9-A927-4E16-BCAF-EC2DD66E0012}"/>
              </a:ext>
            </a:extLst>
          </p:cNvPr>
          <p:cNvPicPr>
            <a:picLocks noChangeAspect="1"/>
          </p:cNvPicPr>
          <p:nvPr/>
        </p:nvPicPr>
        <p:blipFill>
          <a:blip r:embed="rId3"/>
          <a:stretch>
            <a:fillRect/>
          </a:stretch>
        </p:blipFill>
        <p:spPr>
          <a:xfrm>
            <a:off x="11137635" y="123382"/>
            <a:ext cx="929721" cy="693480"/>
          </a:xfrm>
          <a:prstGeom prst="rect">
            <a:avLst/>
          </a:prstGeom>
        </p:spPr>
      </p:pic>
      <p:pic>
        <p:nvPicPr>
          <p:cNvPr id="2050" name="Picture 2" descr="Logo de DataClass AI">
            <a:extLst>
              <a:ext uri="{FF2B5EF4-FFF2-40B4-BE49-F238E27FC236}">
                <a16:creationId xmlns:a16="http://schemas.microsoft.com/office/drawing/2014/main" id="{32F1E436-2B1D-14E0-AE25-4A3C5368D5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644" y="45183"/>
            <a:ext cx="952500" cy="952500"/>
          </a:xfrm>
          <a:prstGeom prst="rect">
            <a:avLst/>
          </a:prstGeom>
          <a:noFill/>
          <a:extLst>
            <a:ext uri="{909E8E84-426E-40DD-AFC4-6F175D3DCCD1}">
              <a14:hiddenFill xmlns:a14="http://schemas.microsoft.com/office/drawing/2010/main">
                <a:solidFill>
                  <a:srgbClr val="FFFFFF"/>
                </a:solidFill>
              </a14:hiddenFill>
            </a:ext>
          </a:extLst>
        </p:spPr>
      </p:pic>
      <p:sp>
        <p:nvSpPr>
          <p:cNvPr id="14" name="ZoneTexte 13">
            <a:extLst>
              <a:ext uri="{FF2B5EF4-FFF2-40B4-BE49-F238E27FC236}">
                <a16:creationId xmlns:a16="http://schemas.microsoft.com/office/drawing/2014/main" id="{65E3E9DB-2AE2-8D06-A996-7DE66AF2CC73}"/>
              </a:ext>
            </a:extLst>
          </p:cNvPr>
          <p:cNvSpPr txBox="1"/>
          <p:nvPr/>
        </p:nvSpPr>
        <p:spPr>
          <a:xfrm>
            <a:off x="5556039" y="6475452"/>
            <a:ext cx="263214" cy="276999"/>
          </a:xfrm>
          <a:prstGeom prst="rect">
            <a:avLst/>
          </a:prstGeom>
          <a:noFill/>
        </p:spPr>
        <p:txBody>
          <a:bodyPr wrap="none" rtlCol="0">
            <a:spAutoFit/>
          </a:bodyPr>
          <a:lstStyle/>
          <a:p>
            <a:r>
              <a:rPr lang="fr-FR" sz="1200" dirty="0"/>
              <a:t>5</a:t>
            </a:r>
            <a:endParaRPr lang="fr-FR" sz="1200" noProof="0" dirty="0"/>
          </a:p>
        </p:txBody>
      </p:sp>
      <p:sp>
        <p:nvSpPr>
          <p:cNvPr id="11" name="ZoneTexte 10">
            <a:extLst>
              <a:ext uri="{FF2B5EF4-FFF2-40B4-BE49-F238E27FC236}">
                <a16:creationId xmlns:a16="http://schemas.microsoft.com/office/drawing/2014/main" id="{FF7C1755-525A-E912-41CF-B9E28285B226}"/>
              </a:ext>
            </a:extLst>
          </p:cNvPr>
          <p:cNvSpPr txBox="1"/>
          <p:nvPr/>
        </p:nvSpPr>
        <p:spPr>
          <a:xfrm>
            <a:off x="7567127" y="1483567"/>
            <a:ext cx="184731" cy="369332"/>
          </a:xfrm>
          <a:prstGeom prst="rect">
            <a:avLst/>
          </a:prstGeom>
          <a:noFill/>
        </p:spPr>
        <p:txBody>
          <a:bodyPr wrap="none" rtlCol="0">
            <a:spAutoFit/>
          </a:bodyPr>
          <a:lstStyle/>
          <a:p>
            <a:endParaRPr lang="fr-FR" dirty="0"/>
          </a:p>
        </p:txBody>
      </p:sp>
      <p:cxnSp>
        <p:nvCxnSpPr>
          <p:cNvPr id="5" name="Connecteur droit 4">
            <a:extLst>
              <a:ext uri="{FF2B5EF4-FFF2-40B4-BE49-F238E27FC236}">
                <a16:creationId xmlns:a16="http://schemas.microsoft.com/office/drawing/2014/main" id="{45366552-5460-D845-5F3D-44D46339FE73}"/>
              </a:ext>
            </a:extLst>
          </p:cNvPr>
          <p:cNvCxnSpPr>
            <a:cxnSpLocks/>
          </p:cNvCxnSpPr>
          <p:nvPr/>
        </p:nvCxnSpPr>
        <p:spPr>
          <a:xfrm>
            <a:off x="5930941" y="997683"/>
            <a:ext cx="76916" cy="5477769"/>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7" name="Tableau 6">
            <a:extLst>
              <a:ext uri="{FF2B5EF4-FFF2-40B4-BE49-F238E27FC236}">
                <a16:creationId xmlns:a16="http://schemas.microsoft.com/office/drawing/2014/main" id="{66750146-8666-03B9-3CB7-A28C3C9310B9}"/>
              </a:ext>
            </a:extLst>
          </p:cNvPr>
          <p:cNvGraphicFramePr>
            <a:graphicFrameLocks noGrp="1"/>
          </p:cNvGraphicFramePr>
          <p:nvPr>
            <p:extLst>
              <p:ext uri="{D42A27DB-BD31-4B8C-83A1-F6EECF244321}">
                <p14:modId xmlns:p14="http://schemas.microsoft.com/office/powerpoint/2010/main" val="3258087920"/>
              </p:ext>
            </p:extLst>
          </p:nvPr>
        </p:nvGraphicFramePr>
        <p:xfrm>
          <a:off x="150839" y="1012972"/>
          <a:ext cx="5405200" cy="4846320"/>
        </p:xfrm>
        <a:graphic>
          <a:graphicData uri="http://schemas.openxmlformats.org/drawingml/2006/table">
            <a:tbl>
              <a:tblPr>
                <a:tableStyleId>{2D5ABB26-0587-4C30-8999-92F81FD0307C}</a:tableStyleId>
              </a:tblPr>
              <a:tblGrid>
                <a:gridCol w="5405200">
                  <a:extLst>
                    <a:ext uri="{9D8B030D-6E8A-4147-A177-3AD203B41FA5}">
                      <a16:colId xmlns:a16="http://schemas.microsoft.com/office/drawing/2014/main" val="326662603"/>
                    </a:ext>
                  </a:extLst>
                </a:gridCol>
              </a:tblGrid>
              <a:tr h="0">
                <a:tc>
                  <a:txBody>
                    <a:bodyPr/>
                    <a:lstStyle/>
                    <a:p>
                      <a:pPr marL="171450" indent="-171450">
                        <a:buFont typeface="Wingdings" panose="05000000000000000000" pitchFamily="2" charset="2"/>
                        <a:buChar char="q"/>
                      </a:pPr>
                      <a:r>
                        <a:rPr lang="fr-FR" sz="1200" b="1" kern="1200" dirty="0">
                          <a:solidFill>
                            <a:schemeClr val="tx2">
                              <a:lumMod val="50000"/>
                              <a:lumOff val="50000"/>
                            </a:schemeClr>
                          </a:solidFill>
                          <a:effectLst/>
                          <a:latin typeface="+mn-lt"/>
                          <a:ea typeface="+mn-ea"/>
                          <a:cs typeface="+mn-cs"/>
                        </a:rPr>
                        <a:t>Indicateurs</a:t>
                      </a:r>
                      <a:endParaRPr lang="fr-FR" sz="1200" b="0" kern="1200" dirty="0">
                        <a:solidFill>
                          <a:schemeClr val="tx1"/>
                        </a:solidFill>
                        <a:effectLst/>
                        <a:latin typeface="+mn-lt"/>
                        <a:ea typeface="+mn-ea"/>
                        <a:cs typeface="+mn-cs"/>
                      </a:endParaRPr>
                    </a:p>
                    <a:p>
                      <a:pPr marL="0" indent="0">
                        <a:buFont typeface="Wingdings" panose="05000000000000000000" pitchFamily="2" charset="2"/>
                        <a:buNone/>
                      </a:pPr>
                      <a:r>
                        <a:rPr lang="fr-FR" sz="1200" b="0" kern="1200" dirty="0">
                          <a:solidFill>
                            <a:schemeClr val="tx1"/>
                          </a:solidFill>
                          <a:effectLst/>
                          <a:latin typeface="+mn-lt"/>
                          <a:ea typeface="+mn-ea"/>
                          <a:cs typeface="+mn-cs"/>
                        </a:rPr>
                        <a:t>Définir au moins trois KPI :</a:t>
                      </a:r>
                    </a:p>
                    <a:p>
                      <a:pPr marL="171450" indent="-171450">
                        <a:buFont typeface="Wingdings" panose="05000000000000000000" pitchFamily="2" charset="2"/>
                        <a:buChar char="q"/>
                      </a:pPr>
                      <a:r>
                        <a:rPr lang="fr-FR" sz="1200" b="0" kern="1200" dirty="0">
                          <a:solidFill>
                            <a:schemeClr val="tx1"/>
                          </a:solidFill>
                          <a:effectLst/>
                          <a:latin typeface="+mn-lt"/>
                          <a:ea typeface="+mn-ea"/>
                          <a:cs typeface="+mn-cs"/>
                        </a:rPr>
                        <a:t>Taux de détection des objets sur un jeu de test annoté.</a:t>
                      </a:r>
                    </a:p>
                    <a:p>
                      <a:pPr marL="171450" indent="-171450">
                        <a:buFont typeface="Wingdings" panose="05000000000000000000" pitchFamily="2" charset="2"/>
                        <a:buChar char="q"/>
                      </a:pPr>
                      <a:r>
                        <a:rPr lang="fr-FR" sz="1200" b="0" kern="1200" dirty="0">
                          <a:solidFill>
                            <a:schemeClr val="tx1"/>
                          </a:solidFill>
                          <a:effectLst/>
                          <a:latin typeface="+mn-lt"/>
                          <a:ea typeface="+mn-ea"/>
                          <a:cs typeface="+mn-cs"/>
                        </a:rPr>
                        <a:t>Temps moyen nécessaire pour réaliser un audit.</a:t>
                      </a:r>
                    </a:p>
                    <a:p>
                      <a:pPr marL="171450" indent="-171450">
                        <a:buFont typeface="Wingdings" panose="05000000000000000000" pitchFamily="2" charset="2"/>
                        <a:buChar char="q"/>
                      </a:pPr>
                      <a:r>
                        <a:rPr lang="fr-FR" sz="1200" b="0" kern="1200" dirty="0">
                          <a:solidFill>
                            <a:schemeClr val="tx1"/>
                          </a:solidFill>
                          <a:effectLst/>
                          <a:latin typeface="+mn-lt"/>
                          <a:ea typeface="+mn-ea"/>
                          <a:cs typeface="+mn-cs"/>
                        </a:rPr>
                        <a:t>Nombre d’écarts identifiés par rapport à la configuration théorique.</a:t>
                      </a:r>
                    </a:p>
                    <a:p>
                      <a:pPr marL="171450" indent="-171450">
                        <a:buFont typeface="Wingdings" panose="05000000000000000000" pitchFamily="2" charset="2"/>
                        <a:buChar char="q"/>
                      </a:pPr>
                      <a:endParaRPr lang="fr-FR" sz="1200" b="0" kern="1200" dirty="0">
                        <a:solidFill>
                          <a:schemeClr val="tx1"/>
                        </a:solidFill>
                        <a:effectLst/>
                        <a:latin typeface="+mn-lt"/>
                        <a:ea typeface="+mn-ea"/>
                        <a:cs typeface="+mn-cs"/>
                      </a:endParaRPr>
                    </a:p>
                    <a:p>
                      <a:r>
                        <a:rPr lang="fr-FR" sz="1200" b="1" kern="1200" dirty="0">
                          <a:solidFill>
                            <a:schemeClr val="tx2">
                              <a:lumMod val="50000"/>
                              <a:lumOff val="50000"/>
                            </a:schemeClr>
                          </a:solidFill>
                          <a:effectLst/>
                          <a:latin typeface="+mn-lt"/>
                          <a:ea typeface="+mn-ea"/>
                          <a:cs typeface="+mn-cs"/>
                        </a:rPr>
                        <a:t>Qualité</a:t>
                      </a:r>
                    </a:p>
                    <a:p>
                      <a:pPr marL="171450" indent="-171450">
                        <a:buFont typeface="Wingdings" panose="05000000000000000000" pitchFamily="2" charset="2"/>
                        <a:buChar char="q"/>
                      </a:pPr>
                      <a:r>
                        <a:rPr lang="fr-FR" sz="1200" b="0" kern="1200" dirty="0">
                          <a:solidFill>
                            <a:schemeClr val="tx1"/>
                          </a:solidFill>
                          <a:effectLst/>
                          <a:latin typeface="+mn-lt"/>
                          <a:ea typeface="+mn-ea"/>
                          <a:cs typeface="+mn-cs"/>
                        </a:rPr>
                        <a:t>Tester au moins trois situations différentes.</a:t>
                      </a:r>
                    </a:p>
                    <a:p>
                      <a:pPr marL="171450" indent="-171450">
                        <a:buFont typeface="Wingdings" panose="05000000000000000000" pitchFamily="2" charset="2"/>
                        <a:buChar char="q"/>
                      </a:pPr>
                      <a:r>
                        <a:rPr lang="fr-FR" sz="1200" b="0" kern="1200" dirty="0">
                          <a:solidFill>
                            <a:schemeClr val="tx1"/>
                          </a:solidFill>
                          <a:effectLst/>
                          <a:latin typeface="+mn-lt"/>
                          <a:ea typeface="+mn-ea"/>
                          <a:cs typeface="+mn-cs"/>
                        </a:rPr>
                        <a:t>Documenter les limites du modèle.</a:t>
                      </a:r>
                    </a:p>
                    <a:p>
                      <a:pPr marL="171450" indent="-171450">
                        <a:buFont typeface="Wingdings" panose="05000000000000000000" pitchFamily="2" charset="2"/>
                        <a:buChar char="q"/>
                      </a:pPr>
                      <a:r>
                        <a:rPr lang="fr-FR" sz="1200" b="0" kern="1200" dirty="0">
                          <a:solidFill>
                            <a:schemeClr val="tx1"/>
                          </a:solidFill>
                          <a:effectLst/>
                          <a:latin typeface="+mn-lt"/>
                          <a:ea typeface="+mn-ea"/>
                          <a:cs typeface="+mn-cs"/>
                        </a:rPr>
                        <a:t>Vérifier le comportement en cas de refus de la caméra.</a:t>
                      </a:r>
                    </a:p>
                    <a:p>
                      <a:pPr marL="171450" indent="-171450">
                        <a:buFont typeface="Wingdings" panose="05000000000000000000" pitchFamily="2" charset="2"/>
                        <a:buChar char="q"/>
                      </a:pPr>
                      <a:r>
                        <a:rPr lang="fr-FR" sz="1200" b="0" kern="1200" dirty="0">
                          <a:solidFill>
                            <a:schemeClr val="tx1"/>
                          </a:solidFill>
                          <a:effectLst/>
                          <a:latin typeface="+mn-lt"/>
                          <a:ea typeface="+mn-ea"/>
                          <a:cs typeface="+mn-cs"/>
                        </a:rPr>
                        <a:t>Vérifier le comportement si le modèle ne se charge pas.</a:t>
                      </a:r>
                    </a:p>
                    <a:p>
                      <a:pPr marL="171450" indent="-171450">
                        <a:buFont typeface="Wingdings" panose="05000000000000000000" pitchFamily="2" charset="2"/>
                        <a:buChar char="q"/>
                      </a:pPr>
                      <a:endParaRPr lang="fr-FR" sz="1200" b="0" kern="1200" dirty="0">
                        <a:solidFill>
                          <a:schemeClr val="tx1"/>
                        </a:solidFill>
                        <a:effectLst/>
                        <a:latin typeface="+mn-lt"/>
                        <a:ea typeface="+mn-ea"/>
                        <a:cs typeface="+mn-cs"/>
                      </a:endParaRPr>
                    </a:p>
                    <a:p>
                      <a:pPr marL="0" algn="l" defTabSz="914400" rtl="0" eaLnBrk="1" latinLnBrk="0" hangingPunct="1"/>
                      <a:r>
                        <a:rPr lang="fr-FR" sz="1200" b="1" kern="1200" dirty="0">
                          <a:solidFill>
                            <a:schemeClr val="tx2">
                              <a:lumMod val="50000"/>
                              <a:lumOff val="50000"/>
                            </a:schemeClr>
                          </a:solidFill>
                          <a:effectLst/>
                          <a:latin typeface="+mn-lt"/>
                          <a:ea typeface="+mn-ea"/>
                          <a:cs typeface="+mn-cs"/>
                        </a:rPr>
                        <a:t>8. Instructions GitHub et </a:t>
                      </a:r>
                      <a:r>
                        <a:rPr lang="fr-FR" sz="1200" b="1" kern="1200" dirty="0" err="1">
                          <a:solidFill>
                            <a:schemeClr val="tx2">
                              <a:lumMod val="50000"/>
                              <a:lumOff val="50000"/>
                            </a:schemeClr>
                          </a:solidFill>
                          <a:effectLst/>
                          <a:latin typeface="+mn-lt"/>
                          <a:ea typeface="+mn-ea"/>
                          <a:cs typeface="+mn-cs"/>
                        </a:rPr>
                        <a:t>Cloudflare</a:t>
                      </a:r>
                      <a:endParaRPr lang="fr-FR" sz="1200" b="1" kern="1200" dirty="0">
                        <a:solidFill>
                          <a:schemeClr val="tx2">
                            <a:lumMod val="50000"/>
                            <a:lumOff val="50000"/>
                          </a:schemeClr>
                        </a:solidFill>
                        <a:effectLst/>
                        <a:latin typeface="+mn-lt"/>
                        <a:ea typeface="+mn-ea"/>
                        <a:cs typeface="+mn-cs"/>
                      </a:endParaRPr>
                    </a:p>
                    <a:p>
                      <a:pPr marL="0" algn="l" defTabSz="914400" rtl="0" eaLnBrk="1" latinLnBrk="0" hangingPunct="1"/>
                      <a:r>
                        <a:rPr lang="fr-FR" sz="1200" b="1" kern="1200" dirty="0">
                          <a:solidFill>
                            <a:schemeClr val="tx2">
                              <a:lumMod val="50000"/>
                              <a:lumOff val="50000"/>
                            </a:schemeClr>
                          </a:solidFill>
                          <a:effectLst/>
                          <a:latin typeface="+mn-lt"/>
                          <a:ea typeface="+mn-ea"/>
                          <a:cs typeface="+mn-cs"/>
                        </a:rPr>
                        <a:t>Étape 1 — Créer le dépôt GitHub</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Connectez-vous à GitHub.</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Créez un nouveau dépôt nommé </a:t>
                      </a:r>
                      <a:r>
                        <a:rPr lang="fr-FR" sz="1200" b="0" kern="1200" dirty="0" err="1">
                          <a:solidFill>
                            <a:schemeClr val="tx1"/>
                          </a:solidFill>
                          <a:effectLst/>
                          <a:latin typeface="+mn-lt"/>
                          <a:ea typeface="+mn-ea"/>
                          <a:cs typeface="+mn-cs"/>
                        </a:rPr>
                        <a:t>epita</a:t>
                      </a:r>
                      <a:r>
                        <a:rPr lang="fr-FR" sz="1200" b="0" kern="1200" dirty="0">
                          <a:solidFill>
                            <a:schemeClr val="tx1"/>
                          </a:solidFill>
                          <a:effectLst/>
                          <a:latin typeface="+mn-lt"/>
                          <a:ea typeface="+mn-ea"/>
                          <a:cs typeface="+mn-cs"/>
                        </a:rPr>
                        <a:t>-smart-</a:t>
                      </a:r>
                      <a:r>
                        <a:rPr lang="fr-FR" sz="1200" b="0" kern="1200" dirty="0" err="1">
                          <a:solidFill>
                            <a:schemeClr val="tx1"/>
                          </a:solidFill>
                          <a:effectLst/>
                          <a:latin typeface="+mn-lt"/>
                          <a:ea typeface="+mn-ea"/>
                          <a:cs typeface="+mn-cs"/>
                        </a:rPr>
                        <a:t>classroom</a:t>
                      </a:r>
                      <a:r>
                        <a:rPr lang="fr-FR" sz="1200" b="0" kern="1200" dirty="0">
                          <a:solidFill>
                            <a:schemeClr val="tx1"/>
                          </a:solidFill>
                          <a:effectLst/>
                          <a:latin typeface="+mn-lt"/>
                          <a:ea typeface="+mn-ea"/>
                          <a:cs typeface="+mn-cs"/>
                        </a:rPr>
                        <a: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Ajoutez un README.</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Ajoutez les fichiers de l’application.</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Enregistrez vos modifications avec des </a:t>
                      </a:r>
                      <a:r>
                        <a:rPr lang="fr-FR" sz="1200" b="0" kern="1200" dirty="0" err="1">
                          <a:solidFill>
                            <a:schemeClr val="tx1"/>
                          </a:solidFill>
                          <a:effectLst/>
                          <a:latin typeface="+mn-lt"/>
                          <a:ea typeface="+mn-ea"/>
                          <a:cs typeface="+mn-cs"/>
                        </a:rPr>
                        <a:t>commits</a:t>
                      </a:r>
                      <a:r>
                        <a:rPr lang="fr-FR" sz="1200" b="0" kern="1200" dirty="0">
                          <a:solidFill>
                            <a:schemeClr val="tx1"/>
                          </a:solidFill>
                          <a:effectLst/>
                          <a:latin typeface="+mn-lt"/>
                          <a:ea typeface="+mn-ea"/>
                          <a:cs typeface="+mn-cs"/>
                        </a:rPr>
                        <a:t> explicites.</a:t>
                      </a:r>
                    </a:p>
                    <a:p>
                      <a:pPr marL="0" indent="0" algn="l" defTabSz="914400" rtl="0" eaLnBrk="1" latinLnBrk="0" hangingPunct="1">
                        <a:buFont typeface="Wingdings" panose="05000000000000000000" pitchFamily="2" charset="2"/>
                        <a:buNone/>
                      </a:pPr>
                      <a:r>
                        <a:rPr lang="fr-FR" sz="1200" b="0" kern="1200" dirty="0">
                          <a:solidFill>
                            <a:schemeClr val="tx1"/>
                          </a:solidFill>
                          <a:effectLst/>
                          <a:latin typeface="+mn-lt"/>
                          <a:ea typeface="+mn-ea"/>
                          <a:cs typeface="+mn-cs"/>
                        </a:rPr>
                        <a:t>Pour une version simple, votre dépôt peut contenir :</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index.html</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style.css</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app.js</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README.md</a:t>
                      </a:r>
                    </a:p>
                    <a:p>
                      <a:pPr marL="0" indent="0" algn="l" defTabSz="914400" rtl="0" eaLnBrk="1" latinLnBrk="0" hangingPunct="1">
                        <a:buFont typeface="Wingdings" panose="05000000000000000000" pitchFamily="2" charset="2"/>
                        <a:buNone/>
                      </a:pPr>
                      <a:r>
                        <a:rPr lang="fr-FR" sz="1200" b="0" kern="1200" dirty="0">
                          <a:solidFill>
                            <a:schemeClr val="tx1"/>
                          </a:solidFill>
                          <a:effectLst/>
                          <a:latin typeface="+mn-lt"/>
                          <a:ea typeface="+mn-ea"/>
                          <a:cs typeface="+mn-cs"/>
                        </a:rPr>
                        <a:t>Si vous utilisez </a:t>
                      </a:r>
                      <a:r>
                        <a:rPr lang="fr-FR" sz="1200" b="0" kern="1200" dirty="0" err="1">
                          <a:solidFill>
                            <a:schemeClr val="tx1"/>
                          </a:solidFill>
                          <a:effectLst/>
                          <a:latin typeface="+mn-lt"/>
                          <a:ea typeface="+mn-ea"/>
                          <a:cs typeface="+mn-cs"/>
                        </a:rPr>
                        <a:t>React</a:t>
                      </a:r>
                      <a:r>
                        <a:rPr lang="fr-FR" sz="1200" b="0" kern="1200" dirty="0">
                          <a:solidFill>
                            <a:schemeClr val="tx1"/>
                          </a:solidFill>
                          <a:effectLst/>
                          <a:latin typeface="+mn-lt"/>
                          <a:ea typeface="+mn-ea"/>
                          <a:cs typeface="+mn-cs"/>
                        </a:rPr>
                        <a:t>, ajoutez les fichiers nécessaires à ce </a:t>
                      </a:r>
                      <a:r>
                        <a:rPr lang="fr-FR" sz="1200" b="0" kern="1200" dirty="0" err="1">
                          <a:solidFill>
                            <a:schemeClr val="tx1"/>
                          </a:solidFill>
                          <a:effectLst/>
                          <a:latin typeface="+mn-lt"/>
                          <a:ea typeface="+mn-ea"/>
                          <a:cs typeface="+mn-cs"/>
                        </a:rPr>
                        <a:t>framework</a:t>
                      </a:r>
                      <a:endParaRPr lang="fr-FR" sz="1200" b="0" kern="1200" dirty="0">
                        <a:solidFill>
                          <a:schemeClr val="tx1"/>
                        </a:solidFill>
                        <a:effectLst/>
                        <a:latin typeface="+mn-lt"/>
                        <a:ea typeface="+mn-ea"/>
                        <a:cs typeface="+mn-cs"/>
                      </a:endParaRPr>
                    </a:p>
                    <a:p>
                      <a:pPr marL="171450" indent="-171450">
                        <a:buFont typeface="Wingdings" panose="05000000000000000000" pitchFamily="2" charset="2"/>
                        <a:buChar char="q"/>
                      </a:pPr>
                      <a:endParaRPr lang="fr-FR" sz="1200" b="0" kern="1200" dirty="0">
                        <a:solidFill>
                          <a:schemeClr val="tx1"/>
                        </a:solidFill>
                        <a:effectLst/>
                        <a:latin typeface="+mn-lt"/>
                        <a:ea typeface="+mn-ea"/>
                        <a:cs typeface="+mn-cs"/>
                      </a:endParaRPr>
                    </a:p>
                  </a:txBody>
                  <a:tcPr/>
                </a:tc>
                <a:extLst>
                  <a:ext uri="{0D108BD9-81ED-4DB2-BD59-A6C34878D82A}">
                    <a16:rowId xmlns:a16="http://schemas.microsoft.com/office/drawing/2014/main" val="1458786338"/>
                  </a:ext>
                </a:extLst>
              </a:tr>
            </a:tbl>
          </a:graphicData>
        </a:graphic>
      </p:graphicFrame>
      <p:graphicFrame>
        <p:nvGraphicFramePr>
          <p:cNvPr id="3" name="Tableau 2">
            <a:extLst>
              <a:ext uri="{FF2B5EF4-FFF2-40B4-BE49-F238E27FC236}">
                <a16:creationId xmlns:a16="http://schemas.microsoft.com/office/drawing/2014/main" id="{0D3AC91A-EC1F-3A8D-FC86-273881DF93B4}"/>
              </a:ext>
            </a:extLst>
          </p:cNvPr>
          <p:cNvGraphicFramePr>
            <a:graphicFrameLocks noGrp="1"/>
          </p:cNvGraphicFramePr>
          <p:nvPr>
            <p:extLst>
              <p:ext uri="{D42A27DB-BD31-4B8C-83A1-F6EECF244321}">
                <p14:modId xmlns:p14="http://schemas.microsoft.com/office/powerpoint/2010/main" val="3658572767"/>
              </p:ext>
            </p:extLst>
          </p:nvPr>
        </p:nvGraphicFramePr>
        <p:xfrm>
          <a:off x="6116339" y="1018617"/>
          <a:ext cx="5405200" cy="4846320"/>
        </p:xfrm>
        <a:graphic>
          <a:graphicData uri="http://schemas.openxmlformats.org/drawingml/2006/table">
            <a:tbl>
              <a:tblPr>
                <a:tableStyleId>{2D5ABB26-0587-4C30-8999-92F81FD0307C}</a:tableStyleId>
              </a:tblPr>
              <a:tblGrid>
                <a:gridCol w="5405200">
                  <a:extLst>
                    <a:ext uri="{9D8B030D-6E8A-4147-A177-3AD203B41FA5}">
                      <a16:colId xmlns:a16="http://schemas.microsoft.com/office/drawing/2014/main" val="326662603"/>
                    </a:ext>
                  </a:extLst>
                </a:gridCol>
              </a:tblGrid>
              <a:tr h="0">
                <a:tc>
                  <a:txBody>
                    <a:bodyPr/>
                    <a:lstStyle/>
                    <a:p>
                      <a:pPr marL="0" indent="0" algn="l" defTabSz="914400" rtl="0" eaLnBrk="1" latinLnBrk="0" hangingPunct="1">
                        <a:buFont typeface="Wingdings" panose="05000000000000000000" pitchFamily="2" charset="2"/>
                        <a:buNone/>
                      </a:pPr>
                      <a:r>
                        <a:rPr lang="fr-FR" sz="1200" b="1" kern="1200" dirty="0">
                          <a:solidFill>
                            <a:schemeClr val="tx2">
                              <a:lumMod val="50000"/>
                              <a:lumOff val="50000"/>
                            </a:schemeClr>
                          </a:solidFill>
                          <a:effectLst/>
                          <a:latin typeface="+mn-lt"/>
                          <a:ea typeface="+mn-ea"/>
                          <a:cs typeface="+mn-cs"/>
                        </a:rPr>
                        <a:t>Étape 2 — Développer et tester localement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Vérifiez que l’application fonctionne avant le déploiement.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La caméra doit être testée dans un contexte sécurisé, par exemple sur localhost en développement.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Si vous utilisez une bibliothèque JavaScript externe, documentez sa provenance et vérifiez que les scripts et le modèle sont correctement chargés.</a:t>
                      </a:r>
                    </a:p>
                    <a:p>
                      <a:pPr marL="171450" indent="-171450" algn="l" defTabSz="914400" rtl="0" eaLnBrk="1" latinLnBrk="0" hangingPunct="1">
                        <a:buFont typeface="Wingdings" panose="05000000000000000000" pitchFamily="2" charset="2"/>
                        <a:buChar char="q"/>
                      </a:pPr>
                      <a:endParaRPr lang="fr-FR" sz="1200" b="0" kern="1200" dirty="0">
                        <a:solidFill>
                          <a:schemeClr val="tx1"/>
                        </a:solidFill>
                        <a:effectLst/>
                        <a:latin typeface="+mn-lt"/>
                        <a:ea typeface="+mn-ea"/>
                        <a:cs typeface="+mn-cs"/>
                      </a:endParaRPr>
                    </a:p>
                    <a:p>
                      <a:r>
                        <a:rPr lang="fr-FR" sz="1200" b="1" kern="1200" dirty="0">
                          <a:solidFill>
                            <a:schemeClr val="tx2">
                              <a:lumMod val="50000"/>
                              <a:lumOff val="50000"/>
                            </a:schemeClr>
                          </a:solidFill>
                          <a:effectLst/>
                          <a:latin typeface="+mn-lt"/>
                          <a:ea typeface="+mn-ea"/>
                          <a:cs typeface="+mn-cs"/>
                        </a:rPr>
                        <a:t>Étape 3 — Connecter GitHub à </a:t>
                      </a:r>
                      <a:r>
                        <a:rPr lang="fr-FR" sz="1200" b="1" kern="1200" dirty="0" err="1">
                          <a:solidFill>
                            <a:schemeClr val="tx2">
                              <a:lumMod val="50000"/>
                              <a:lumOff val="50000"/>
                            </a:schemeClr>
                          </a:solidFill>
                          <a:effectLst/>
                          <a:latin typeface="+mn-lt"/>
                          <a:ea typeface="+mn-ea"/>
                          <a:cs typeface="+mn-cs"/>
                        </a:rPr>
                        <a:t>Cloudflare</a:t>
                      </a:r>
                      <a:r>
                        <a:rPr lang="fr-FR" sz="1200" b="1" kern="1200" dirty="0">
                          <a:solidFill>
                            <a:schemeClr val="tx2">
                              <a:lumMod val="50000"/>
                              <a:lumOff val="50000"/>
                            </a:schemeClr>
                          </a:solidFill>
                          <a:effectLst/>
                          <a:latin typeface="+mn-lt"/>
                          <a:ea typeface="+mn-ea"/>
                          <a:cs typeface="+mn-cs"/>
                        </a:rPr>
                        <a:t> Pages</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Connectez-vous au tableau de bord </a:t>
                      </a:r>
                      <a:r>
                        <a:rPr lang="fr-FR" sz="1200" b="0" kern="1200" dirty="0" err="1">
                          <a:solidFill>
                            <a:schemeClr val="tx1"/>
                          </a:solidFill>
                          <a:effectLst/>
                          <a:latin typeface="+mn-lt"/>
                          <a:ea typeface="+mn-ea"/>
                          <a:cs typeface="+mn-cs"/>
                        </a:rPr>
                        <a:t>Cloudflare</a:t>
                      </a:r>
                      <a:r>
                        <a:rPr lang="fr-FR" sz="1200" b="0" kern="1200" dirty="0">
                          <a:solidFill>
                            <a:schemeClr val="tx1"/>
                          </a:solidFill>
                          <a:effectLst/>
                          <a:latin typeface="+mn-lt"/>
                          <a:ea typeface="+mn-ea"/>
                          <a:cs typeface="+mn-cs"/>
                        </a:rPr>
                        <a: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Ouvrez </a:t>
                      </a:r>
                      <a:r>
                        <a:rPr lang="fr-FR" sz="1200" b="0" kern="1200" dirty="0" err="1">
                          <a:solidFill>
                            <a:schemeClr val="tx1"/>
                          </a:solidFill>
                          <a:effectLst/>
                          <a:latin typeface="+mn-lt"/>
                          <a:ea typeface="+mn-ea"/>
                          <a:cs typeface="+mn-cs"/>
                        </a:rPr>
                        <a:t>Workers</a:t>
                      </a:r>
                      <a:r>
                        <a:rPr lang="fr-FR" sz="1200" b="0" kern="1200" dirty="0">
                          <a:solidFill>
                            <a:schemeClr val="tx1"/>
                          </a:solidFill>
                          <a:effectLst/>
                          <a:latin typeface="+mn-lt"/>
                          <a:ea typeface="+mn-ea"/>
                          <a:cs typeface="+mn-cs"/>
                        </a:rPr>
                        <a:t> &amp; Pages.</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Choisissez la création d’une application Pages.</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Sélectionnez l’option de connexion à Git.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Autorisez </a:t>
                      </a:r>
                      <a:r>
                        <a:rPr lang="fr-FR" sz="1200" b="0" kern="1200" dirty="0" err="1">
                          <a:solidFill>
                            <a:schemeClr val="tx1"/>
                          </a:solidFill>
                          <a:effectLst/>
                          <a:latin typeface="+mn-lt"/>
                          <a:ea typeface="+mn-ea"/>
                          <a:cs typeface="+mn-cs"/>
                        </a:rPr>
                        <a:t>Cloudflare</a:t>
                      </a:r>
                      <a:r>
                        <a:rPr lang="fr-FR" sz="1200" b="0" kern="1200" dirty="0">
                          <a:solidFill>
                            <a:schemeClr val="tx1"/>
                          </a:solidFill>
                          <a:effectLst/>
                          <a:latin typeface="+mn-lt"/>
                          <a:ea typeface="+mn-ea"/>
                          <a:cs typeface="+mn-cs"/>
                        </a:rPr>
                        <a:t> à accéder au dépôt GitHub concerné.</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Sélectionnez le dépôt </a:t>
                      </a:r>
                      <a:r>
                        <a:rPr lang="fr-FR" sz="1200" b="0" kern="1200" dirty="0" err="1">
                          <a:solidFill>
                            <a:schemeClr val="tx1"/>
                          </a:solidFill>
                          <a:effectLst/>
                          <a:latin typeface="+mn-lt"/>
                          <a:ea typeface="+mn-ea"/>
                          <a:cs typeface="+mn-cs"/>
                        </a:rPr>
                        <a:t>epita</a:t>
                      </a:r>
                      <a:r>
                        <a:rPr lang="fr-FR" sz="1200" b="0" kern="1200" dirty="0">
                          <a:solidFill>
                            <a:schemeClr val="tx1"/>
                          </a:solidFill>
                          <a:effectLst/>
                          <a:latin typeface="+mn-lt"/>
                          <a:ea typeface="+mn-ea"/>
                          <a:cs typeface="+mn-cs"/>
                        </a:rPr>
                        <a:t>-smart-</a:t>
                      </a:r>
                      <a:r>
                        <a:rPr lang="fr-FR" sz="1200" b="0" kern="1200" dirty="0" err="1">
                          <a:solidFill>
                            <a:schemeClr val="tx1"/>
                          </a:solidFill>
                          <a:effectLst/>
                          <a:latin typeface="+mn-lt"/>
                          <a:ea typeface="+mn-ea"/>
                          <a:cs typeface="+mn-cs"/>
                        </a:rPr>
                        <a:t>classroom</a:t>
                      </a:r>
                      <a:r>
                        <a:rPr lang="fr-FR" sz="1200" b="0" kern="1200" dirty="0">
                          <a:solidFill>
                            <a:schemeClr val="tx1"/>
                          </a:solidFill>
                          <a:effectLst/>
                          <a:latin typeface="+mn-lt"/>
                          <a:ea typeface="+mn-ea"/>
                          <a:cs typeface="+mn-cs"/>
                        </a:rPr>
                        <a: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Configurez les paramètres de déploiement.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Lancez le premier déploiement.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Pour un projet HTML, CSS et JavaScript sans compilation, utilisez :</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Branche de production : main.</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Commande de </a:t>
                      </a:r>
                      <a:r>
                        <a:rPr lang="fr-FR" sz="1200" b="0" kern="1200" dirty="0" err="1">
                          <a:solidFill>
                            <a:schemeClr val="tx1"/>
                          </a:solidFill>
                          <a:effectLst/>
                          <a:latin typeface="+mn-lt"/>
                          <a:ea typeface="+mn-ea"/>
                          <a:cs typeface="+mn-cs"/>
                        </a:rPr>
                        <a:t>build</a:t>
                      </a:r>
                      <a:r>
                        <a:rPr lang="fr-FR" sz="1200" b="0" kern="1200" dirty="0">
                          <a:solidFill>
                            <a:schemeClr val="tx1"/>
                          </a:solidFill>
                          <a:effectLst/>
                          <a:latin typeface="+mn-lt"/>
                          <a:ea typeface="+mn-ea"/>
                          <a:cs typeface="+mn-cs"/>
                        </a:rPr>
                        <a:t> : aucune, ou exit 0 si nécessaire.</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Répertoire de sortie : le dossier contenant index.html, par exemple / si les fichiers sont à la racine.</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La configuration exacte dépend de l’organisation des fichiers. Consultez la documentation officielle : </a:t>
                      </a:r>
                      <a:r>
                        <a:rPr lang="fr-FR" sz="1200" b="0" kern="1200" dirty="0">
                          <a:solidFill>
                            <a:schemeClr val="tx1"/>
                          </a:solidFill>
                          <a:effectLst/>
                          <a:latin typeface="+mn-lt"/>
                          <a:ea typeface="+mn-ea"/>
                          <a:cs typeface="+mn-cs"/>
                          <a:hlinkClick r:id="rId5">
                            <a:extLst>
                              <a:ext uri="{A12FA001-AC4F-418D-AE19-62706E023703}">
                                <ahyp:hlinkClr xmlns:ahyp="http://schemas.microsoft.com/office/drawing/2018/hyperlinkcolor" val="tx"/>
                              </a:ext>
                            </a:extLst>
                          </a:hlinkClick>
                        </a:rPr>
                        <a:t>https://developers.cloudflare.com/pages/configuration/git-integration/</a:t>
                      </a:r>
                      <a:endParaRPr lang="fr-FR" sz="1200" b="0" kern="1200" dirty="0">
                        <a:solidFill>
                          <a:schemeClr val="tx1"/>
                        </a:solidFill>
                        <a:effectLst/>
                        <a:latin typeface="+mn-lt"/>
                        <a:ea typeface="+mn-ea"/>
                        <a:cs typeface="+mn-cs"/>
                      </a:endParaRPr>
                    </a:p>
                    <a:p>
                      <a:pPr marL="171450" indent="-171450" algn="l" defTabSz="914400" rtl="0" eaLnBrk="1" latinLnBrk="0" hangingPunct="1">
                        <a:buFont typeface="Wingdings" panose="05000000000000000000" pitchFamily="2" charset="2"/>
                        <a:buChar char="q"/>
                      </a:pPr>
                      <a:endParaRPr lang="fr-FR" sz="1200" b="0" kern="1200" dirty="0">
                        <a:solidFill>
                          <a:schemeClr val="tx1"/>
                        </a:solidFill>
                        <a:effectLst/>
                        <a:latin typeface="+mn-lt"/>
                        <a:ea typeface="+mn-ea"/>
                        <a:cs typeface="+mn-cs"/>
                      </a:endParaRPr>
                    </a:p>
                    <a:p>
                      <a:pPr marL="171450" indent="-171450">
                        <a:buFont typeface="Wingdings" panose="05000000000000000000" pitchFamily="2" charset="2"/>
                        <a:buChar char="q"/>
                      </a:pPr>
                      <a:endParaRPr lang="fr-FR" sz="1200" b="0" kern="1200" dirty="0">
                        <a:solidFill>
                          <a:schemeClr val="tx1"/>
                        </a:solidFill>
                        <a:effectLst/>
                        <a:latin typeface="+mn-lt"/>
                        <a:ea typeface="+mn-ea"/>
                        <a:cs typeface="+mn-cs"/>
                      </a:endParaRPr>
                    </a:p>
                  </a:txBody>
                  <a:tcPr/>
                </a:tc>
                <a:extLst>
                  <a:ext uri="{0D108BD9-81ED-4DB2-BD59-A6C34878D82A}">
                    <a16:rowId xmlns:a16="http://schemas.microsoft.com/office/drawing/2014/main" val="1458786338"/>
                  </a:ext>
                </a:extLst>
              </a:tr>
            </a:tbl>
          </a:graphicData>
        </a:graphic>
      </p:graphicFrame>
      <p:sp>
        <p:nvSpPr>
          <p:cNvPr id="4" name="ZoneTexte 3">
            <a:extLst>
              <a:ext uri="{FF2B5EF4-FFF2-40B4-BE49-F238E27FC236}">
                <a16:creationId xmlns:a16="http://schemas.microsoft.com/office/drawing/2014/main" id="{AE66514E-0AAE-412F-957C-9ECAD331E401}"/>
              </a:ext>
            </a:extLst>
          </p:cNvPr>
          <p:cNvSpPr txBox="1"/>
          <p:nvPr/>
        </p:nvSpPr>
        <p:spPr>
          <a:xfrm>
            <a:off x="4086198" y="129459"/>
            <a:ext cx="4244368" cy="738664"/>
          </a:xfrm>
          <a:prstGeom prst="rect">
            <a:avLst/>
          </a:prstGeom>
          <a:noFill/>
        </p:spPr>
        <p:txBody>
          <a:bodyPr wrap="none" rtlCol="0">
            <a:spAutoFit/>
          </a:bodyPr>
          <a:lstStyle/>
          <a:p>
            <a:pPr algn="ctr"/>
            <a:r>
              <a:rPr lang="fr-FR" sz="2400" b="1" noProof="0" dirty="0"/>
              <a:t>🧠 EXAMEN FINAL EPITA </a:t>
            </a:r>
            <a:br>
              <a:rPr lang="fr-FR" sz="2400" b="1" noProof="0" dirty="0"/>
            </a:br>
            <a:r>
              <a:rPr lang="fr-FR" b="1" noProof="0" dirty="0"/>
              <a:t>IA FOR Managers – EPITA Smart Classroom</a:t>
            </a:r>
          </a:p>
        </p:txBody>
      </p:sp>
      <p:sp>
        <p:nvSpPr>
          <p:cNvPr id="6" name="ZoneTexte 5">
            <a:extLst>
              <a:ext uri="{FF2B5EF4-FFF2-40B4-BE49-F238E27FC236}">
                <a16:creationId xmlns:a16="http://schemas.microsoft.com/office/drawing/2014/main" id="{889A4720-4754-F7A5-FC4F-D3A797B16B79}"/>
              </a:ext>
            </a:extLst>
          </p:cNvPr>
          <p:cNvSpPr txBox="1"/>
          <p:nvPr/>
        </p:nvSpPr>
        <p:spPr>
          <a:xfrm>
            <a:off x="0" y="6581001"/>
            <a:ext cx="931665" cy="276999"/>
          </a:xfrm>
          <a:prstGeom prst="rect">
            <a:avLst/>
          </a:prstGeom>
          <a:noFill/>
        </p:spPr>
        <p:txBody>
          <a:bodyPr wrap="none" rtlCol="0">
            <a:spAutoFit/>
          </a:bodyPr>
          <a:lstStyle/>
          <a:p>
            <a:r>
              <a:rPr lang="fr-FR" sz="1200" dirty="0"/>
              <a:t>16/10</a:t>
            </a:r>
            <a:r>
              <a:rPr lang="fr-FR" sz="1200" noProof="0" dirty="0"/>
              <a:t>/2026</a:t>
            </a:r>
          </a:p>
        </p:txBody>
      </p:sp>
    </p:spTree>
    <p:extLst>
      <p:ext uri="{BB962C8B-B14F-4D97-AF65-F5344CB8AC3E}">
        <p14:creationId xmlns:p14="http://schemas.microsoft.com/office/powerpoint/2010/main" val="3797047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73866-02B2-0B58-FE2C-FC88BCDFABC1}"/>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58AA0DE9-A927-4E16-BCAF-EC2DD66E0012}"/>
              </a:ext>
            </a:extLst>
          </p:cNvPr>
          <p:cNvPicPr>
            <a:picLocks noChangeAspect="1"/>
          </p:cNvPicPr>
          <p:nvPr/>
        </p:nvPicPr>
        <p:blipFill>
          <a:blip r:embed="rId3"/>
          <a:stretch>
            <a:fillRect/>
          </a:stretch>
        </p:blipFill>
        <p:spPr>
          <a:xfrm>
            <a:off x="11137635" y="123382"/>
            <a:ext cx="929721" cy="693480"/>
          </a:xfrm>
          <a:prstGeom prst="rect">
            <a:avLst/>
          </a:prstGeom>
        </p:spPr>
      </p:pic>
      <p:pic>
        <p:nvPicPr>
          <p:cNvPr id="2050" name="Picture 2" descr="Logo de DataClass AI">
            <a:extLst>
              <a:ext uri="{FF2B5EF4-FFF2-40B4-BE49-F238E27FC236}">
                <a16:creationId xmlns:a16="http://schemas.microsoft.com/office/drawing/2014/main" id="{32F1E436-2B1D-14E0-AE25-4A3C5368D5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644" y="45183"/>
            <a:ext cx="952500" cy="952500"/>
          </a:xfrm>
          <a:prstGeom prst="rect">
            <a:avLst/>
          </a:prstGeom>
          <a:noFill/>
          <a:extLst>
            <a:ext uri="{909E8E84-426E-40DD-AFC4-6F175D3DCCD1}">
              <a14:hiddenFill xmlns:a14="http://schemas.microsoft.com/office/drawing/2010/main">
                <a:solidFill>
                  <a:srgbClr val="FFFFFF"/>
                </a:solidFill>
              </a14:hiddenFill>
            </a:ext>
          </a:extLst>
        </p:spPr>
      </p:pic>
      <p:sp>
        <p:nvSpPr>
          <p:cNvPr id="14" name="ZoneTexte 13">
            <a:extLst>
              <a:ext uri="{FF2B5EF4-FFF2-40B4-BE49-F238E27FC236}">
                <a16:creationId xmlns:a16="http://schemas.microsoft.com/office/drawing/2014/main" id="{65E3E9DB-2AE2-8D06-A996-7DE66AF2CC73}"/>
              </a:ext>
            </a:extLst>
          </p:cNvPr>
          <p:cNvSpPr txBox="1"/>
          <p:nvPr/>
        </p:nvSpPr>
        <p:spPr>
          <a:xfrm>
            <a:off x="5556039" y="6475452"/>
            <a:ext cx="263214" cy="276999"/>
          </a:xfrm>
          <a:prstGeom prst="rect">
            <a:avLst/>
          </a:prstGeom>
          <a:noFill/>
        </p:spPr>
        <p:txBody>
          <a:bodyPr wrap="none" rtlCol="0">
            <a:spAutoFit/>
          </a:bodyPr>
          <a:lstStyle/>
          <a:p>
            <a:r>
              <a:rPr lang="fr-FR" sz="1200" dirty="0"/>
              <a:t>7</a:t>
            </a:r>
            <a:endParaRPr lang="fr-FR" sz="1200" noProof="0" dirty="0"/>
          </a:p>
        </p:txBody>
      </p:sp>
      <p:sp>
        <p:nvSpPr>
          <p:cNvPr id="8" name="ZoneTexte 7">
            <a:extLst>
              <a:ext uri="{FF2B5EF4-FFF2-40B4-BE49-F238E27FC236}">
                <a16:creationId xmlns:a16="http://schemas.microsoft.com/office/drawing/2014/main" id="{9ED44E92-A1E8-5C83-F1C2-BCAB68D48D27}"/>
              </a:ext>
            </a:extLst>
          </p:cNvPr>
          <p:cNvSpPr txBox="1"/>
          <p:nvPr/>
        </p:nvSpPr>
        <p:spPr>
          <a:xfrm>
            <a:off x="0" y="6581001"/>
            <a:ext cx="931665" cy="276999"/>
          </a:xfrm>
          <a:prstGeom prst="rect">
            <a:avLst/>
          </a:prstGeom>
          <a:noFill/>
        </p:spPr>
        <p:txBody>
          <a:bodyPr wrap="none" rtlCol="0">
            <a:spAutoFit/>
          </a:bodyPr>
          <a:lstStyle/>
          <a:p>
            <a:r>
              <a:rPr lang="fr-FR" sz="1200" dirty="0"/>
              <a:t>16/10</a:t>
            </a:r>
            <a:r>
              <a:rPr lang="fr-FR" sz="1200" noProof="0" dirty="0"/>
              <a:t>/2026</a:t>
            </a:r>
          </a:p>
        </p:txBody>
      </p:sp>
      <p:sp>
        <p:nvSpPr>
          <p:cNvPr id="11" name="ZoneTexte 10">
            <a:extLst>
              <a:ext uri="{FF2B5EF4-FFF2-40B4-BE49-F238E27FC236}">
                <a16:creationId xmlns:a16="http://schemas.microsoft.com/office/drawing/2014/main" id="{FF7C1755-525A-E912-41CF-B9E28285B226}"/>
              </a:ext>
            </a:extLst>
          </p:cNvPr>
          <p:cNvSpPr txBox="1"/>
          <p:nvPr/>
        </p:nvSpPr>
        <p:spPr>
          <a:xfrm>
            <a:off x="7567127" y="1483567"/>
            <a:ext cx="184731" cy="369332"/>
          </a:xfrm>
          <a:prstGeom prst="rect">
            <a:avLst/>
          </a:prstGeom>
          <a:noFill/>
        </p:spPr>
        <p:txBody>
          <a:bodyPr wrap="none" rtlCol="0">
            <a:spAutoFit/>
          </a:bodyPr>
          <a:lstStyle/>
          <a:p>
            <a:endParaRPr lang="fr-FR" dirty="0"/>
          </a:p>
        </p:txBody>
      </p:sp>
      <p:cxnSp>
        <p:nvCxnSpPr>
          <p:cNvPr id="5" name="Connecteur droit 4">
            <a:extLst>
              <a:ext uri="{FF2B5EF4-FFF2-40B4-BE49-F238E27FC236}">
                <a16:creationId xmlns:a16="http://schemas.microsoft.com/office/drawing/2014/main" id="{45366552-5460-D845-5F3D-44D46339FE73}"/>
              </a:ext>
            </a:extLst>
          </p:cNvPr>
          <p:cNvCxnSpPr>
            <a:cxnSpLocks/>
          </p:cNvCxnSpPr>
          <p:nvPr/>
        </p:nvCxnSpPr>
        <p:spPr>
          <a:xfrm>
            <a:off x="5930941" y="997683"/>
            <a:ext cx="76916" cy="5477769"/>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7" name="Tableau 6">
            <a:extLst>
              <a:ext uri="{FF2B5EF4-FFF2-40B4-BE49-F238E27FC236}">
                <a16:creationId xmlns:a16="http://schemas.microsoft.com/office/drawing/2014/main" id="{66750146-8666-03B9-3CB7-A28C3C9310B9}"/>
              </a:ext>
            </a:extLst>
          </p:cNvPr>
          <p:cNvGraphicFramePr>
            <a:graphicFrameLocks noGrp="1"/>
          </p:cNvGraphicFramePr>
          <p:nvPr>
            <p:extLst>
              <p:ext uri="{D42A27DB-BD31-4B8C-83A1-F6EECF244321}">
                <p14:modId xmlns:p14="http://schemas.microsoft.com/office/powerpoint/2010/main" val="9075955"/>
              </p:ext>
            </p:extLst>
          </p:nvPr>
        </p:nvGraphicFramePr>
        <p:xfrm>
          <a:off x="150839" y="1012972"/>
          <a:ext cx="5405200" cy="5394960"/>
        </p:xfrm>
        <a:graphic>
          <a:graphicData uri="http://schemas.openxmlformats.org/drawingml/2006/table">
            <a:tbl>
              <a:tblPr>
                <a:tableStyleId>{2D5ABB26-0587-4C30-8999-92F81FD0307C}</a:tableStyleId>
              </a:tblPr>
              <a:tblGrid>
                <a:gridCol w="5405200">
                  <a:extLst>
                    <a:ext uri="{9D8B030D-6E8A-4147-A177-3AD203B41FA5}">
                      <a16:colId xmlns:a16="http://schemas.microsoft.com/office/drawing/2014/main" val="326662603"/>
                    </a:ext>
                  </a:extLst>
                </a:gridCol>
              </a:tblGrid>
              <a:tr h="0">
                <a:tc>
                  <a:txBody>
                    <a:bodyPr/>
                    <a:lstStyle/>
                    <a:p>
                      <a:pPr marL="0" indent="0" algn="l" defTabSz="914400" rtl="0" eaLnBrk="1" latinLnBrk="0" hangingPunct="1">
                        <a:buFont typeface="Wingdings" panose="05000000000000000000" pitchFamily="2" charset="2"/>
                        <a:buNone/>
                      </a:pPr>
                      <a:r>
                        <a:rPr lang="fr-FR" sz="1200" b="1" kern="1200" dirty="0">
                          <a:solidFill>
                            <a:schemeClr val="tx2">
                              <a:lumMod val="50000"/>
                              <a:lumOff val="50000"/>
                            </a:schemeClr>
                          </a:solidFill>
                          <a:effectLst/>
                          <a:latin typeface="+mn-lt"/>
                          <a:ea typeface="+mn-ea"/>
                          <a:cs typeface="+mn-cs"/>
                        </a:rPr>
                        <a:t>Étape 4 — Vérifier le déploiement</a:t>
                      </a:r>
                    </a:p>
                    <a:p>
                      <a:pPr marL="0" indent="0" algn="l" defTabSz="914400" rtl="0" eaLnBrk="1" latinLnBrk="0" hangingPunct="1">
                        <a:buFont typeface="Wingdings" panose="05000000000000000000" pitchFamily="2" charset="2"/>
                        <a:buNone/>
                      </a:pPr>
                      <a:r>
                        <a:rPr lang="fr-FR" sz="1200" b="0" kern="1200" dirty="0">
                          <a:solidFill>
                            <a:schemeClr val="tx1"/>
                          </a:solidFill>
                          <a:effectLst/>
                          <a:latin typeface="+mn-lt"/>
                          <a:ea typeface="+mn-ea"/>
                          <a:cs typeface="+mn-cs"/>
                        </a:rPr>
                        <a:t>Après le déploiement :</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Ouvrez l’URL fournie par </a:t>
                      </a:r>
                      <a:r>
                        <a:rPr lang="fr-FR" sz="1200" b="0" kern="1200" dirty="0" err="1">
                          <a:solidFill>
                            <a:schemeClr val="tx1"/>
                          </a:solidFill>
                          <a:effectLst/>
                          <a:latin typeface="+mn-lt"/>
                          <a:ea typeface="+mn-ea"/>
                          <a:cs typeface="+mn-cs"/>
                        </a:rPr>
                        <a:t>Cloudflare</a:t>
                      </a:r>
                      <a:r>
                        <a:rPr lang="fr-FR" sz="1200" b="0" kern="1200" dirty="0">
                          <a:solidFill>
                            <a:schemeClr val="tx1"/>
                          </a:solidFill>
                          <a:effectLst/>
                          <a:latin typeface="+mn-lt"/>
                          <a:ea typeface="+mn-ea"/>
                          <a:cs typeface="+mn-cs"/>
                        </a:rPr>
                        <a: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Vérifiez que l’interface se charge.</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Testez le fonctionnement de la caméra.</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Vérifiez le chargement du modèle.</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Testez une détection et le rapport d’audit.</a:t>
                      </a:r>
                    </a:p>
                    <a:p>
                      <a:pPr marL="171450" indent="-171450" algn="l" defTabSz="914400" rtl="0" eaLnBrk="1" latinLnBrk="0" hangingPunct="1">
                        <a:buFont typeface="Wingdings" panose="05000000000000000000" pitchFamily="2" charset="2"/>
                        <a:buChar char="q"/>
                      </a:pPr>
                      <a:endParaRPr lang="fr-FR" sz="1200" b="0" kern="1200" dirty="0">
                        <a:solidFill>
                          <a:schemeClr val="tx1"/>
                        </a:solidFill>
                        <a:effectLst/>
                        <a:latin typeface="+mn-lt"/>
                        <a:ea typeface="+mn-ea"/>
                        <a:cs typeface="+mn-cs"/>
                      </a:endParaRPr>
                    </a:p>
                    <a:p>
                      <a:pPr marL="0" indent="0" algn="l" defTabSz="914400" rtl="0" eaLnBrk="1" latinLnBrk="0" hangingPunct="1">
                        <a:buFont typeface="Wingdings" panose="05000000000000000000" pitchFamily="2" charset="2"/>
                        <a:buNone/>
                      </a:pPr>
                      <a:r>
                        <a:rPr lang="fr-FR" sz="1200" b="0" kern="1200" dirty="0">
                          <a:solidFill>
                            <a:schemeClr val="tx1"/>
                          </a:solidFill>
                          <a:effectLst/>
                          <a:latin typeface="+mn-lt"/>
                          <a:ea typeface="+mn-ea"/>
                          <a:cs typeface="+mn-cs"/>
                        </a:rPr>
                        <a:t>Une fois l’intégration Git activée, </a:t>
                      </a:r>
                      <a:r>
                        <a:rPr lang="fr-FR" sz="1200" b="0" kern="1200" dirty="0" err="1">
                          <a:solidFill>
                            <a:schemeClr val="tx1"/>
                          </a:solidFill>
                          <a:effectLst/>
                          <a:latin typeface="+mn-lt"/>
                          <a:ea typeface="+mn-ea"/>
                          <a:cs typeface="+mn-cs"/>
                        </a:rPr>
                        <a:t>Cloudflare</a:t>
                      </a:r>
                      <a:r>
                        <a:rPr lang="fr-FR" sz="1200" b="0" kern="1200" dirty="0">
                          <a:solidFill>
                            <a:schemeClr val="tx1"/>
                          </a:solidFill>
                          <a:effectLst/>
                          <a:latin typeface="+mn-lt"/>
                          <a:ea typeface="+mn-ea"/>
                          <a:cs typeface="+mn-cs"/>
                        </a:rPr>
                        <a:t> peut automatiquement redéployer l’application à chaque mise à jour de la branche connectée.</a:t>
                      </a:r>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pPr marL="171450" indent="-171450" algn="l" defTabSz="914400" rtl="0" eaLnBrk="1" latinLnBrk="0" hangingPunct="1">
                        <a:buFont typeface="Wingdings" panose="05000000000000000000" pitchFamily="2" charset="2"/>
                        <a:buChar char="q"/>
                      </a:pPr>
                      <a:r>
                        <a:rPr lang="fr-FR" sz="1200" b="1" kern="1200" dirty="0">
                          <a:solidFill>
                            <a:schemeClr val="tx2">
                              <a:lumMod val="50000"/>
                              <a:lumOff val="50000"/>
                            </a:schemeClr>
                          </a:solidFill>
                          <a:effectLst/>
                          <a:latin typeface="+mn-lt"/>
                          <a:ea typeface="+mn-ea"/>
                          <a:cs typeface="+mn-cs"/>
                        </a:rPr>
                        <a:t>Étape 5 — Finaliser le dépôt</a:t>
                      </a:r>
                    </a:p>
                    <a:p>
                      <a:pPr marL="0" indent="0" algn="l" defTabSz="914400" rtl="0" eaLnBrk="1" latinLnBrk="0" hangingPunct="1">
                        <a:buFont typeface="Wingdings" panose="05000000000000000000" pitchFamily="2" charset="2"/>
                        <a:buNone/>
                      </a:pPr>
                      <a:r>
                        <a:rPr lang="fr-FR" sz="1200" b="0" kern="1200" dirty="0">
                          <a:solidFill>
                            <a:schemeClr val="tx1"/>
                          </a:solidFill>
                          <a:effectLst/>
                          <a:latin typeface="+mn-lt"/>
                          <a:ea typeface="+mn-ea"/>
                          <a:cs typeface="+mn-cs"/>
                        </a:rPr>
                        <a:t>Le README doit contenir :</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La description du projet.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Les technologies utilisées.</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Les instructions de lancement.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Le modèle de vision utilisé.</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Les limites connues.</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L’URL publique de l’application.</a:t>
                      </a:r>
                    </a:p>
                    <a:p>
                      <a:pPr marL="0" indent="0" algn="l" defTabSz="914400" rtl="0" eaLnBrk="1" latinLnBrk="0" hangingPunct="1">
                        <a:buFont typeface="Wingdings" panose="05000000000000000000" pitchFamily="2" charset="2"/>
                        <a:buNone/>
                      </a:pPr>
                      <a:endParaRPr lang="fr-FR" sz="1200" b="0" kern="1200" dirty="0">
                        <a:solidFill>
                          <a:schemeClr val="tx1"/>
                        </a:solidFill>
                        <a:effectLst/>
                        <a:latin typeface="+mn-lt"/>
                        <a:ea typeface="+mn-ea"/>
                        <a:cs typeface="+mn-cs"/>
                      </a:endParaRPr>
                    </a:p>
                    <a:p>
                      <a:pPr marL="0" indent="0" algn="l" defTabSz="914400" rtl="0" eaLnBrk="1" latinLnBrk="0" hangingPunct="1">
                        <a:buFont typeface="Wingdings" panose="05000000000000000000" pitchFamily="2" charset="2"/>
                        <a:buNone/>
                      </a:pPr>
                      <a:r>
                        <a:rPr lang="fr-FR" sz="1200" b="1" kern="1200" dirty="0">
                          <a:solidFill>
                            <a:schemeClr val="tx2">
                              <a:lumMod val="50000"/>
                              <a:lumOff val="50000"/>
                            </a:schemeClr>
                          </a:solidFill>
                          <a:effectLst/>
                          <a:latin typeface="+mn-lt"/>
                          <a:ea typeface="+mn-ea"/>
                          <a:cs typeface="+mn-cs"/>
                        </a:rPr>
                        <a:t>Livrables obligatoires</a:t>
                      </a:r>
                    </a:p>
                    <a:p>
                      <a:pPr marL="0" indent="0" algn="l" defTabSz="914400" rtl="0" eaLnBrk="1" latinLnBrk="0" hangingPunct="1">
                        <a:buFont typeface="Wingdings" panose="05000000000000000000" pitchFamily="2" charset="2"/>
                        <a:buNone/>
                      </a:pPr>
                      <a:r>
                        <a:rPr lang="fr-FR" sz="1200" b="0" kern="1200" dirty="0">
                          <a:solidFill>
                            <a:schemeClr val="tx1"/>
                          </a:solidFill>
                          <a:effectLst/>
                          <a:latin typeface="+mn-lt"/>
                          <a:ea typeface="+mn-ea"/>
                          <a:cs typeface="+mn-cs"/>
                        </a:rPr>
                        <a:t>À la fin des quatre heures, vous devez remettre :</a:t>
                      </a:r>
                    </a:p>
                    <a:p>
                      <a:pPr marL="0" indent="0" algn="l" defTabSz="914400" rtl="0" eaLnBrk="1" latinLnBrk="0" hangingPunct="1">
                        <a:buFont typeface="Wingdings" panose="05000000000000000000" pitchFamily="2" charset="2"/>
                        <a:buNone/>
                      </a:pPr>
                      <a:endParaRPr lang="fr-FR" sz="1200" b="0" kern="1200" dirty="0">
                        <a:solidFill>
                          <a:schemeClr val="tx1"/>
                        </a:solidFill>
                        <a:effectLst/>
                        <a:latin typeface="+mn-lt"/>
                        <a:ea typeface="+mn-ea"/>
                        <a:cs typeface="+mn-cs"/>
                      </a:endParaRPr>
                    </a:p>
                    <a:p>
                      <a:pPr marL="0" indent="0" algn="l" defTabSz="914400" rtl="0" eaLnBrk="1" latinLnBrk="0" hangingPunct="1">
                        <a:buFont typeface="Wingdings" panose="05000000000000000000" pitchFamily="2" charset="2"/>
                        <a:buNone/>
                      </a:pPr>
                      <a:r>
                        <a:rPr lang="fr-FR" sz="1200" b="1" kern="1200" dirty="0">
                          <a:solidFill>
                            <a:schemeClr val="accent2"/>
                          </a:solidFill>
                          <a:effectLst/>
                          <a:latin typeface="+mn-lt"/>
                          <a:ea typeface="+mn-ea"/>
                          <a:cs typeface="+mn-cs"/>
                        </a:rPr>
                        <a:t>Livrable 1 — Application</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Une URL publique </a:t>
                      </a:r>
                      <a:r>
                        <a:rPr lang="fr-FR" sz="1200" b="0" kern="1200" dirty="0" err="1">
                          <a:solidFill>
                            <a:schemeClr val="tx1"/>
                          </a:solidFill>
                          <a:effectLst/>
                          <a:latin typeface="+mn-lt"/>
                          <a:ea typeface="+mn-ea"/>
                          <a:cs typeface="+mn-cs"/>
                        </a:rPr>
                        <a:t>Cloudflare</a:t>
                      </a:r>
                      <a:r>
                        <a:rPr lang="fr-FR" sz="1200" b="0" kern="1200" dirty="0">
                          <a:solidFill>
                            <a:schemeClr val="tx1"/>
                          </a:solidFill>
                          <a:effectLst/>
                          <a:latin typeface="+mn-lt"/>
                          <a:ea typeface="+mn-ea"/>
                          <a:cs typeface="+mn-cs"/>
                        </a:rPr>
                        <a:t> Pages.</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Une interface fonctionnelle.</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Une démonstration de détection d’objets.</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Un tableau de bord et un rapport d’audit.</a:t>
                      </a:r>
                    </a:p>
                    <a:p>
                      <a:pPr marL="171450" indent="-171450">
                        <a:buFont typeface="Wingdings" panose="05000000000000000000" pitchFamily="2" charset="2"/>
                        <a:buChar char="q"/>
                      </a:pPr>
                      <a:endParaRPr lang="fr-FR" sz="1200" b="0" kern="1200" dirty="0">
                        <a:solidFill>
                          <a:schemeClr val="tx1"/>
                        </a:solidFill>
                        <a:effectLst/>
                        <a:latin typeface="+mn-lt"/>
                        <a:ea typeface="+mn-ea"/>
                        <a:cs typeface="+mn-cs"/>
                      </a:endParaRPr>
                    </a:p>
                  </a:txBody>
                  <a:tcPr/>
                </a:tc>
                <a:extLst>
                  <a:ext uri="{0D108BD9-81ED-4DB2-BD59-A6C34878D82A}">
                    <a16:rowId xmlns:a16="http://schemas.microsoft.com/office/drawing/2014/main" val="1458786338"/>
                  </a:ext>
                </a:extLst>
              </a:tr>
            </a:tbl>
          </a:graphicData>
        </a:graphic>
      </p:graphicFrame>
      <p:graphicFrame>
        <p:nvGraphicFramePr>
          <p:cNvPr id="3" name="Tableau 2">
            <a:extLst>
              <a:ext uri="{FF2B5EF4-FFF2-40B4-BE49-F238E27FC236}">
                <a16:creationId xmlns:a16="http://schemas.microsoft.com/office/drawing/2014/main" id="{0D3AC91A-EC1F-3A8D-FC86-273881DF93B4}"/>
              </a:ext>
            </a:extLst>
          </p:cNvPr>
          <p:cNvGraphicFramePr>
            <a:graphicFrameLocks noGrp="1"/>
          </p:cNvGraphicFramePr>
          <p:nvPr>
            <p:extLst>
              <p:ext uri="{D42A27DB-BD31-4B8C-83A1-F6EECF244321}">
                <p14:modId xmlns:p14="http://schemas.microsoft.com/office/powerpoint/2010/main" val="776417245"/>
              </p:ext>
            </p:extLst>
          </p:nvPr>
        </p:nvGraphicFramePr>
        <p:xfrm>
          <a:off x="6116339" y="1018617"/>
          <a:ext cx="5405200" cy="5577840"/>
        </p:xfrm>
        <a:graphic>
          <a:graphicData uri="http://schemas.openxmlformats.org/drawingml/2006/table">
            <a:tbl>
              <a:tblPr>
                <a:tableStyleId>{2D5ABB26-0587-4C30-8999-92F81FD0307C}</a:tableStyleId>
              </a:tblPr>
              <a:tblGrid>
                <a:gridCol w="5405200">
                  <a:extLst>
                    <a:ext uri="{9D8B030D-6E8A-4147-A177-3AD203B41FA5}">
                      <a16:colId xmlns:a16="http://schemas.microsoft.com/office/drawing/2014/main" val="326662603"/>
                    </a:ext>
                  </a:extLst>
                </a:gridCol>
              </a:tblGrid>
              <a:tr h="0">
                <a:tc>
                  <a:txBody>
                    <a:bodyPr/>
                    <a:lstStyle/>
                    <a:p>
                      <a:pPr marL="0" indent="0" algn="l" defTabSz="914400" rtl="0" eaLnBrk="1" latinLnBrk="0" hangingPunct="1">
                        <a:buFont typeface="Wingdings" panose="05000000000000000000" pitchFamily="2" charset="2"/>
                        <a:buNone/>
                      </a:pPr>
                      <a:endParaRPr lang="fr-FR" sz="1200" b="0" kern="1200" dirty="0">
                        <a:solidFill>
                          <a:schemeClr val="tx1"/>
                        </a:solidFill>
                        <a:effectLst/>
                        <a:latin typeface="+mn-lt"/>
                        <a:ea typeface="+mn-ea"/>
                        <a:cs typeface="+mn-cs"/>
                      </a:endParaRPr>
                    </a:p>
                    <a:p>
                      <a:pPr marL="0" indent="0" algn="l" defTabSz="914400" rtl="0" eaLnBrk="1" latinLnBrk="0" hangingPunct="1">
                        <a:buFont typeface="Wingdings" panose="05000000000000000000" pitchFamily="2" charset="2"/>
                        <a:buNone/>
                      </a:pPr>
                      <a:r>
                        <a:rPr lang="fr-FR" sz="1200" b="1" kern="1200" dirty="0">
                          <a:solidFill>
                            <a:schemeClr val="accent2"/>
                          </a:solidFill>
                          <a:effectLst/>
                          <a:latin typeface="+mn-lt"/>
                          <a:ea typeface="+mn-ea"/>
                          <a:cs typeface="+mn-cs"/>
                        </a:rPr>
                        <a:t>Livrable 2 — Code source</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L’URL du dépôt GitHub.</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Le code complet.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Un historique de </a:t>
                      </a:r>
                      <a:r>
                        <a:rPr lang="fr-FR" sz="1200" b="0" kern="1200" dirty="0" err="1">
                          <a:solidFill>
                            <a:schemeClr val="tx1"/>
                          </a:solidFill>
                          <a:effectLst/>
                          <a:latin typeface="+mn-lt"/>
                          <a:ea typeface="+mn-ea"/>
                          <a:cs typeface="+mn-cs"/>
                        </a:rPr>
                        <a:t>commits</a:t>
                      </a:r>
                      <a:r>
                        <a:rPr lang="fr-FR" sz="1200" b="0" kern="1200" dirty="0">
                          <a:solidFill>
                            <a:schemeClr val="tx1"/>
                          </a:solidFill>
                          <a:effectLst/>
                          <a:latin typeface="+mn-lt"/>
                          <a:ea typeface="+mn-ea"/>
                          <a:cs typeface="+mn-cs"/>
                        </a:rPr>
                        <a: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Un README exploitable.</a:t>
                      </a:r>
                    </a:p>
                    <a:p>
                      <a:pPr marL="171450" indent="-171450" algn="l" defTabSz="914400" rtl="0" eaLnBrk="1" latinLnBrk="0" hangingPunct="1">
                        <a:buFont typeface="Wingdings" panose="05000000000000000000" pitchFamily="2" charset="2"/>
                        <a:buChar char="q"/>
                      </a:pPr>
                      <a:endParaRPr lang="fr-FR" sz="1200" b="0" kern="1200" dirty="0">
                        <a:solidFill>
                          <a:schemeClr val="tx1"/>
                        </a:solidFill>
                        <a:effectLst/>
                        <a:latin typeface="+mn-lt"/>
                        <a:ea typeface="+mn-ea"/>
                        <a:cs typeface="+mn-cs"/>
                      </a:endParaRPr>
                    </a:p>
                    <a:p>
                      <a:pPr marL="0" indent="0" algn="l" defTabSz="914400" rtl="0" eaLnBrk="1" latinLnBrk="0" hangingPunct="1">
                        <a:buFont typeface="Wingdings" panose="05000000000000000000" pitchFamily="2" charset="2"/>
                        <a:buNone/>
                      </a:pPr>
                      <a:r>
                        <a:rPr lang="fr-FR" sz="1200" b="1" kern="1200" dirty="0">
                          <a:solidFill>
                            <a:schemeClr val="accent2"/>
                          </a:solidFill>
                          <a:effectLst/>
                          <a:latin typeface="+mn-lt"/>
                          <a:ea typeface="+mn-ea"/>
                          <a:cs typeface="+mn-cs"/>
                        </a:rPr>
                        <a:t>Livrable 3 — Dossier projet</a:t>
                      </a:r>
                      <a:br>
                        <a:rPr lang="fr-FR" sz="1200" b="0" kern="1200" dirty="0">
                          <a:solidFill>
                            <a:schemeClr val="tx1"/>
                          </a:solidFill>
                          <a:effectLst/>
                          <a:latin typeface="+mn-lt"/>
                          <a:ea typeface="+mn-ea"/>
                          <a:cs typeface="+mn-cs"/>
                        </a:rPr>
                      </a:br>
                      <a:r>
                        <a:rPr lang="fr-FR" sz="1200" b="0" kern="1200" dirty="0">
                          <a:solidFill>
                            <a:schemeClr val="tx1"/>
                          </a:solidFill>
                          <a:effectLst/>
                          <a:latin typeface="+mn-lt"/>
                          <a:ea typeface="+mn-ea"/>
                          <a:cs typeface="+mn-cs"/>
                        </a:rPr>
                        <a:t>Un document PDF ou </a:t>
                      </a:r>
                      <a:r>
                        <a:rPr lang="fr-FR" sz="1200" b="0" kern="1200" dirty="0" err="1">
                          <a:solidFill>
                            <a:schemeClr val="tx1"/>
                          </a:solidFill>
                          <a:effectLst/>
                          <a:latin typeface="+mn-lt"/>
                          <a:ea typeface="+mn-ea"/>
                          <a:cs typeface="+mn-cs"/>
                        </a:rPr>
                        <a:t>Markdown</a:t>
                      </a:r>
                      <a:r>
                        <a:rPr lang="fr-FR" sz="1200" b="0" kern="1200" dirty="0">
                          <a:solidFill>
                            <a:schemeClr val="tx1"/>
                          </a:solidFill>
                          <a:effectLst/>
                          <a:latin typeface="+mn-lt"/>
                          <a:ea typeface="+mn-ea"/>
                          <a:cs typeface="+mn-cs"/>
                        </a:rPr>
                        <a:t> comprenant :</a:t>
                      </a:r>
                    </a:p>
                    <a:p>
                      <a:pPr marL="0" indent="0" algn="l" defTabSz="914400" rtl="0" eaLnBrk="1" latinLnBrk="0" hangingPunct="1">
                        <a:buFont typeface="Wingdings" panose="05000000000000000000" pitchFamily="2" charset="2"/>
                        <a:buNone/>
                      </a:pPr>
                      <a:endParaRPr lang="fr-FR" sz="1200" b="0" kern="1200" dirty="0">
                        <a:solidFill>
                          <a:schemeClr val="tx1"/>
                        </a:solidFill>
                        <a:effectLst/>
                        <a:latin typeface="+mn-lt"/>
                        <a:ea typeface="+mn-ea"/>
                        <a:cs typeface="+mn-cs"/>
                      </a:endParaRP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Le besoin métier.</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Le périmètre.</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L’architecture.</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Le </a:t>
                      </a:r>
                      <a:r>
                        <a:rPr lang="fr-FR" sz="1200" b="0" kern="1200" dirty="0" err="1">
                          <a:solidFill>
                            <a:schemeClr val="tx1"/>
                          </a:solidFill>
                          <a:effectLst/>
                          <a:latin typeface="+mn-lt"/>
                          <a:ea typeface="+mn-ea"/>
                          <a:cs typeface="+mn-cs"/>
                        </a:rPr>
                        <a:t>backlog</a:t>
                      </a:r>
                      <a:r>
                        <a:rPr lang="fr-FR" sz="1200" b="0" kern="1200" dirty="0">
                          <a:solidFill>
                            <a:schemeClr val="tx1"/>
                          </a:solidFill>
                          <a:effectLst/>
                          <a:latin typeface="+mn-lt"/>
                          <a:ea typeface="+mn-ea"/>
                          <a:cs typeface="+mn-cs"/>
                        </a:rPr>
                        <a:t>.</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Les KPI.</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Les tests.</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Les risques et les limites.</a:t>
                      </a:r>
                    </a:p>
                    <a:p>
                      <a:pPr marL="171450" indent="-171450" algn="l" defTabSz="914400" rtl="0" eaLnBrk="1" latinLnBrk="0" hangingPunct="1">
                        <a:buFont typeface="Wingdings" panose="05000000000000000000" pitchFamily="2" charset="2"/>
                        <a:buChar char="q"/>
                      </a:pPr>
                      <a:endParaRPr lang="fr-FR" sz="1200" b="0" kern="1200" dirty="0">
                        <a:solidFill>
                          <a:schemeClr val="tx1"/>
                        </a:solidFill>
                        <a:effectLst/>
                        <a:latin typeface="+mn-lt"/>
                        <a:ea typeface="+mn-ea"/>
                        <a:cs typeface="+mn-cs"/>
                      </a:endParaRPr>
                    </a:p>
                    <a:p>
                      <a:pPr marL="171450" indent="-171450" algn="l" defTabSz="914400" rtl="0" eaLnBrk="1" latinLnBrk="0" hangingPunct="1">
                        <a:buFont typeface="Wingdings" panose="05000000000000000000" pitchFamily="2" charset="2"/>
                        <a:buChar char="q"/>
                      </a:pPr>
                      <a:endParaRPr lang="fr-FR" sz="1200" b="0" kern="1200" dirty="0">
                        <a:solidFill>
                          <a:schemeClr val="tx1"/>
                        </a:solidFill>
                        <a:effectLst/>
                        <a:latin typeface="+mn-lt"/>
                        <a:ea typeface="+mn-ea"/>
                        <a:cs typeface="+mn-cs"/>
                      </a:endParaRPr>
                    </a:p>
                    <a:p>
                      <a:pPr marL="0" indent="0" algn="l" defTabSz="914400" rtl="0" eaLnBrk="1" latinLnBrk="0" hangingPunct="1">
                        <a:buFont typeface="Wingdings" panose="05000000000000000000" pitchFamily="2" charset="2"/>
                        <a:buNone/>
                      </a:pPr>
                      <a:r>
                        <a:rPr lang="fr-FR" sz="1200" b="1" kern="1200" dirty="0">
                          <a:solidFill>
                            <a:schemeClr val="accent2"/>
                          </a:solidFill>
                          <a:effectLst/>
                          <a:latin typeface="+mn-lt"/>
                          <a:ea typeface="+mn-ea"/>
                          <a:cs typeface="+mn-cs"/>
                        </a:rPr>
                        <a:t>Règles de sécurité</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N’analysez pas les personnes.</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Cadrez la caméra sur le mobilier et les équipements.</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N’enregistrez pas les images ou les vidéos.</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Utilisez uniquement des images autorisées.</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Ne publiez aucune donnée confidentielle.</a:t>
                      </a:r>
                    </a:p>
                    <a:p>
                      <a:pPr marL="171450" indent="-171450" algn="l" defTabSz="914400" rtl="0" eaLnBrk="1" latinLnBrk="0" hangingPunct="1">
                        <a:buFont typeface="Wingdings" panose="05000000000000000000" pitchFamily="2" charset="2"/>
                        <a:buChar char="q"/>
                      </a:pPr>
                      <a:r>
                        <a:rPr lang="fr-FR" sz="1200" b="0" kern="1200" dirty="0">
                          <a:solidFill>
                            <a:schemeClr val="tx1"/>
                          </a:solidFill>
                          <a:effectLst/>
                          <a:latin typeface="+mn-lt"/>
                          <a:ea typeface="+mn-ea"/>
                          <a:cs typeface="+mn-cs"/>
                        </a:rPr>
                        <a:t>Ne prétendez pas détecter des catégories que le modèle ne reconnaît pas</a:t>
                      </a:r>
                    </a:p>
                    <a:p>
                      <a:pPr marL="171450" indent="-171450" algn="l" defTabSz="914400" rtl="0" eaLnBrk="1" latinLnBrk="0" hangingPunct="1">
                        <a:buFont typeface="Wingdings" panose="05000000000000000000" pitchFamily="2" charset="2"/>
                        <a:buChar char="q"/>
                      </a:pPr>
                      <a:endParaRPr lang="fr-FR" sz="1200" b="0" kern="1200" dirty="0">
                        <a:solidFill>
                          <a:schemeClr val="tx1"/>
                        </a:solidFill>
                        <a:effectLst/>
                        <a:latin typeface="+mn-lt"/>
                        <a:ea typeface="+mn-ea"/>
                        <a:cs typeface="+mn-cs"/>
                      </a:endParaRPr>
                    </a:p>
                    <a:p>
                      <a:pPr marL="0" indent="0" algn="l" defTabSz="914400" rtl="0" eaLnBrk="1" latinLnBrk="0" hangingPunct="1">
                        <a:buFont typeface="Wingdings" panose="05000000000000000000" pitchFamily="2" charset="2"/>
                        <a:buNone/>
                      </a:pPr>
                      <a:endParaRPr lang="fr-FR" sz="1200" b="0" kern="1200" dirty="0">
                        <a:solidFill>
                          <a:schemeClr val="tx1"/>
                        </a:solidFill>
                        <a:effectLst/>
                        <a:latin typeface="+mn-lt"/>
                        <a:ea typeface="+mn-ea"/>
                        <a:cs typeface="+mn-cs"/>
                      </a:endParaRPr>
                    </a:p>
                    <a:p>
                      <a:pPr marL="171450" indent="-171450" algn="l" defTabSz="914400" rtl="0" eaLnBrk="1" latinLnBrk="0" hangingPunct="1">
                        <a:buFont typeface="Wingdings" panose="05000000000000000000" pitchFamily="2" charset="2"/>
                        <a:buChar char="q"/>
                      </a:pPr>
                      <a:endParaRPr lang="fr-FR" sz="1200" b="0" kern="1200" dirty="0">
                        <a:solidFill>
                          <a:schemeClr val="tx1"/>
                        </a:solidFill>
                        <a:effectLst/>
                        <a:latin typeface="+mn-lt"/>
                        <a:ea typeface="+mn-ea"/>
                        <a:cs typeface="+mn-cs"/>
                      </a:endParaRPr>
                    </a:p>
                    <a:p>
                      <a:pPr marL="171450" indent="-171450">
                        <a:buFont typeface="Wingdings" panose="05000000000000000000" pitchFamily="2" charset="2"/>
                        <a:buChar char="q"/>
                      </a:pPr>
                      <a:endParaRPr lang="fr-FR" sz="1200" b="0" kern="1200" dirty="0">
                        <a:solidFill>
                          <a:schemeClr val="tx1"/>
                        </a:solidFill>
                        <a:effectLst/>
                        <a:latin typeface="+mn-lt"/>
                        <a:ea typeface="+mn-ea"/>
                        <a:cs typeface="+mn-cs"/>
                      </a:endParaRPr>
                    </a:p>
                  </a:txBody>
                  <a:tcPr/>
                </a:tc>
                <a:extLst>
                  <a:ext uri="{0D108BD9-81ED-4DB2-BD59-A6C34878D82A}">
                    <a16:rowId xmlns:a16="http://schemas.microsoft.com/office/drawing/2014/main" val="1458786338"/>
                  </a:ext>
                </a:extLst>
              </a:tr>
            </a:tbl>
          </a:graphicData>
        </a:graphic>
      </p:graphicFrame>
      <p:sp>
        <p:nvSpPr>
          <p:cNvPr id="4" name="ZoneTexte 3">
            <a:extLst>
              <a:ext uri="{FF2B5EF4-FFF2-40B4-BE49-F238E27FC236}">
                <a16:creationId xmlns:a16="http://schemas.microsoft.com/office/drawing/2014/main" id="{AE66514E-0AAE-412F-957C-9ECAD331E401}"/>
              </a:ext>
            </a:extLst>
          </p:cNvPr>
          <p:cNvSpPr txBox="1"/>
          <p:nvPr/>
        </p:nvSpPr>
        <p:spPr>
          <a:xfrm>
            <a:off x="4086198" y="129459"/>
            <a:ext cx="4244368" cy="738664"/>
          </a:xfrm>
          <a:prstGeom prst="rect">
            <a:avLst/>
          </a:prstGeom>
          <a:noFill/>
        </p:spPr>
        <p:txBody>
          <a:bodyPr wrap="none" rtlCol="0">
            <a:spAutoFit/>
          </a:bodyPr>
          <a:lstStyle/>
          <a:p>
            <a:pPr algn="ctr"/>
            <a:r>
              <a:rPr lang="fr-FR" sz="2400" b="1" noProof="0" dirty="0"/>
              <a:t>🧠 EXAMEN FINAL EPITA </a:t>
            </a:r>
            <a:br>
              <a:rPr lang="fr-FR" sz="2400" b="1" noProof="0" dirty="0"/>
            </a:br>
            <a:r>
              <a:rPr lang="fr-FR" b="1" noProof="0" dirty="0"/>
              <a:t>IA FOR Managers – EPITA Smart Classroom</a:t>
            </a:r>
          </a:p>
        </p:txBody>
      </p:sp>
    </p:spTree>
    <p:extLst>
      <p:ext uri="{BB962C8B-B14F-4D97-AF65-F5344CB8AC3E}">
        <p14:creationId xmlns:p14="http://schemas.microsoft.com/office/powerpoint/2010/main" val="8051728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731A7AC-D2ED-4DDC-8A86-9483315C6997}">
  <we:reference id="wa200008583" version="1.0.0.1" store="en-US" storeType="OMEX"/>
  <we:alternateReferences>
    <we:reference id="WA200008583" version="1.0.0.1" store="" storeType="OMEX"/>
  </we:alternateReferences>
  <we:properties/>
  <we:bindings/>
  <we:snapshot xmlns:r="http://schemas.openxmlformats.org/officeDocument/2006/relationships"/>
</we:webextension>
</file>

<file path=docMetadata/LabelInfo.xml><?xml version="1.0" encoding="utf-8"?>
<clbl:labelList xmlns:clbl="http://schemas.microsoft.com/office/2020/mipLabelMetadata">
  <clbl:label id="{fd1c0902-ed92-4fed-896d-2e7725de02d4}" enabled="1" method="Standard" siteId="{d6b0bbee-7cd9-4d60-bce6-4a67b543e2ae}" removed="0"/>
</clbl:labelList>
</file>

<file path=docProps/app.xml><?xml version="1.0" encoding="utf-8"?>
<Properties xmlns="http://schemas.openxmlformats.org/officeDocument/2006/extended-properties" xmlns:vt="http://schemas.openxmlformats.org/officeDocument/2006/docPropsVTypes">
  <TotalTime>9936</TotalTime>
  <Words>1627</Words>
  <Application>Microsoft Office PowerPoint</Application>
  <PresentationFormat>Grand écran</PresentationFormat>
  <Paragraphs>250</Paragraphs>
  <Slides>6</Slides>
  <Notes>6</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6</vt:i4>
      </vt:variant>
    </vt:vector>
  </HeadingPairs>
  <TitlesOfParts>
    <vt:vector size="13" baseType="lpstr">
      <vt:lpstr>Aptos</vt:lpstr>
      <vt:lpstr>Aptos Display</vt:lpstr>
      <vt:lpstr>Arial</vt:lpstr>
      <vt:lpstr>Calibri</vt:lpstr>
      <vt:lpstr>Segoe UI</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CORTY Omar</dc:creator>
  <cp:lastModifiedBy>CORTY Omar</cp:lastModifiedBy>
  <cp:revision>5</cp:revision>
  <dcterms:created xsi:type="dcterms:W3CDTF">2025-10-09T14:00:55Z</dcterms:created>
  <dcterms:modified xsi:type="dcterms:W3CDTF">2026-10-16T09:42:11Z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Thème Office:8</vt:lpwstr>
  </property>
  <property fmtid="{D5CDD505-2E9C-101B-9397-08002B2CF9AE}" pid="3" name="ClassificationContentMarkingFooterText">
    <vt:lpwstr>Confidential C</vt:lpwstr>
  </property>
  <property fmtid="{D5CDD505-2E9C-101B-9397-08002B2CF9AE}" pid="4" name="DLPManualFileClassification">
    <vt:lpwstr>{FF3970A7-9045-4E66-851B-0F6441328E62}</vt:lpwstr>
  </property>
  <property fmtid="{D5CDD505-2E9C-101B-9397-08002B2CF9AE}" pid="5" name="DLPManualFileClassificationLastModifiedBy">
    <vt:lpwstr>NTDSI\T0334830</vt:lpwstr>
  </property>
  <property fmtid="{D5CDD505-2E9C-101B-9397-08002B2CF9AE}" pid="6" name="DLPManualFileClassificationLastModificationDate">
    <vt:lpwstr>1792143698</vt:lpwstr>
  </property>
  <property fmtid="{D5CDD505-2E9C-101B-9397-08002B2CF9AE}" pid="7" name="DLPManualFileClassificationVersion">
    <vt:lpwstr>11.14.0.414</vt:lpwstr>
  </property>
</Properties>
</file>